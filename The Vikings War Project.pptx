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Noot" charset="1" panose="00000000000000000000"/>
      <p:regular r:id="rId15"/>
    </p:embeddedFont>
    <p:embeddedFont>
      <p:font typeface="Glacial Indifference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69542">
            <a:off x="333075" y="-1752006"/>
            <a:ext cx="17608553" cy="9662694"/>
          </a:xfrm>
          <a:custGeom>
            <a:avLst/>
            <a:gdLst/>
            <a:ahLst/>
            <a:cxnLst/>
            <a:rect r="r" b="b" t="t" l="l"/>
            <a:pathLst>
              <a:path h="9662694" w="17608553">
                <a:moveTo>
                  <a:pt x="17608553" y="0"/>
                </a:moveTo>
                <a:lnTo>
                  <a:pt x="0" y="0"/>
                </a:lnTo>
                <a:lnTo>
                  <a:pt x="0" y="9662694"/>
                </a:lnTo>
                <a:lnTo>
                  <a:pt x="17608553" y="9662694"/>
                </a:lnTo>
                <a:lnTo>
                  <a:pt x="17608553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37975">
            <a:off x="-2801444" y="7740753"/>
            <a:ext cx="12681626" cy="5230014"/>
          </a:xfrm>
          <a:custGeom>
            <a:avLst/>
            <a:gdLst/>
            <a:ahLst/>
            <a:cxnLst/>
            <a:rect r="r" b="b" t="t" l="l"/>
            <a:pathLst>
              <a:path h="5230014" w="12681626">
                <a:moveTo>
                  <a:pt x="0" y="0"/>
                </a:moveTo>
                <a:lnTo>
                  <a:pt x="12681626" y="0"/>
                </a:lnTo>
                <a:lnTo>
                  <a:pt x="12681626" y="5230013"/>
                </a:lnTo>
                <a:lnTo>
                  <a:pt x="0" y="52300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10843">
            <a:off x="6509047" y="8360722"/>
            <a:ext cx="12681626" cy="5230014"/>
          </a:xfrm>
          <a:custGeom>
            <a:avLst/>
            <a:gdLst/>
            <a:ahLst/>
            <a:cxnLst/>
            <a:rect r="r" b="b" t="t" l="l"/>
            <a:pathLst>
              <a:path h="5230014" w="12681626">
                <a:moveTo>
                  <a:pt x="0" y="0"/>
                </a:moveTo>
                <a:lnTo>
                  <a:pt x="12681626" y="0"/>
                </a:lnTo>
                <a:lnTo>
                  <a:pt x="12681626" y="5230014"/>
                </a:lnTo>
                <a:lnTo>
                  <a:pt x="0" y="523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64224">
            <a:off x="6076642" y="5374941"/>
            <a:ext cx="6937073" cy="4916651"/>
          </a:xfrm>
          <a:custGeom>
            <a:avLst/>
            <a:gdLst/>
            <a:ahLst/>
            <a:cxnLst/>
            <a:rect r="r" b="b" t="t" l="l"/>
            <a:pathLst>
              <a:path h="4916651" w="6937073">
                <a:moveTo>
                  <a:pt x="0" y="0"/>
                </a:moveTo>
                <a:lnTo>
                  <a:pt x="6937074" y="0"/>
                </a:lnTo>
                <a:lnTo>
                  <a:pt x="6937074" y="4916651"/>
                </a:lnTo>
                <a:lnTo>
                  <a:pt x="0" y="49166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640689">
            <a:off x="888832" y="5358197"/>
            <a:ext cx="4044708" cy="2866687"/>
          </a:xfrm>
          <a:custGeom>
            <a:avLst/>
            <a:gdLst/>
            <a:ahLst/>
            <a:cxnLst/>
            <a:rect r="r" b="b" t="t" l="l"/>
            <a:pathLst>
              <a:path h="2866687" w="4044708">
                <a:moveTo>
                  <a:pt x="0" y="0"/>
                </a:moveTo>
                <a:lnTo>
                  <a:pt x="4044708" y="0"/>
                </a:lnTo>
                <a:lnTo>
                  <a:pt x="4044708" y="2866687"/>
                </a:lnTo>
                <a:lnTo>
                  <a:pt x="0" y="28666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75729" y="6289286"/>
            <a:ext cx="2891794" cy="2049559"/>
          </a:xfrm>
          <a:custGeom>
            <a:avLst/>
            <a:gdLst/>
            <a:ahLst/>
            <a:cxnLst/>
            <a:rect r="r" b="b" t="t" l="l"/>
            <a:pathLst>
              <a:path h="2049559" w="2891794">
                <a:moveTo>
                  <a:pt x="0" y="0"/>
                </a:moveTo>
                <a:lnTo>
                  <a:pt x="2891795" y="0"/>
                </a:lnTo>
                <a:lnTo>
                  <a:pt x="2891795" y="2049560"/>
                </a:lnTo>
                <a:lnTo>
                  <a:pt x="0" y="20495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17380" y="1571043"/>
            <a:ext cx="10839944" cy="252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36"/>
              </a:lnSpc>
              <a:spcBef>
                <a:spcPct val="0"/>
              </a:spcBef>
            </a:pPr>
            <a:r>
              <a:rPr lang="en-US" sz="14740">
                <a:solidFill>
                  <a:srgbClr val="F85846"/>
                </a:solidFill>
                <a:latin typeface="Noot"/>
                <a:ea typeface="Noot"/>
                <a:cs typeface="Noot"/>
                <a:sym typeface="Noot"/>
              </a:rPr>
              <a:t>Vikings War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17380" y="1220621"/>
            <a:ext cx="10839944" cy="426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7"/>
              </a:lnSpc>
              <a:spcBef>
                <a:spcPct val="0"/>
              </a:spcBef>
            </a:pPr>
            <a:r>
              <a:rPr lang="en-US" sz="3101">
                <a:solidFill>
                  <a:srgbClr val="F8584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Mini 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00419" y="4714029"/>
            <a:ext cx="5542771" cy="1441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8"/>
              </a:lnSpc>
            </a:pPr>
            <a:r>
              <a:rPr lang="en-US" sz="18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Done and presented by:</a:t>
            </a:r>
          </a:p>
          <a:p>
            <a:pPr algn="ctr">
              <a:lnSpc>
                <a:spcPts val="1908"/>
              </a:lnSpc>
            </a:pPr>
            <a:r>
              <a:rPr lang="en-US" sz="18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Gabriele Sanches</a:t>
            </a:r>
          </a:p>
          <a:p>
            <a:pPr algn="ctr">
              <a:lnSpc>
                <a:spcPts val="1908"/>
              </a:lnSpc>
            </a:pPr>
            <a:r>
              <a:rPr lang="en-US" sz="18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Javier Garcia</a:t>
            </a:r>
          </a:p>
          <a:p>
            <a:pPr algn="ctr">
              <a:lnSpc>
                <a:spcPts val="1908"/>
              </a:lnSpc>
            </a:pPr>
            <a:r>
              <a:rPr lang="en-US" sz="18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Sergei Volkov</a:t>
            </a:r>
          </a:p>
          <a:p>
            <a:pPr algn="ctr">
              <a:lnSpc>
                <a:spcPts val="1908"/>
              </a:lnSpc>
            </a:pPr>
            <a:r>
              <a:rPr lang="en-US" sz="18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Julia Parnis</a:t>
            </a:r>
          </a:p>
          <a:p>
            <a:pPr algn="ctr">
              <a:lnSpc>
                <a:spcPts val="1908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79018">
            <a:off x="1275160" y="1324547"/>
            <a:ext cx="17386735" cy="9540971"/>
          </a:xfrm>
          <a:custGeom>
            <a:avLst/>
            <a:gdLst/>
            <a:ahLst/>
            <a:cxnLst/>
            <a:rect r="r" b="b" t="t" l="l"/>
            <a:pathLst>
              <a:path h="9540971" w="17386735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3040" y="2732296"/>
            <a:ext cx="5029673" cy="9138518"/>
            <a:chOff x="0" y="0"/>
            <a:chExt cx="6706230" cy="121846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454854"/>
              <a:ext cx="6706230" cy="6706230"/>
            </a:xfrm>
            <a:custGeom>
              <a:avLst/>
              <a:gdLst/>
              <a:ahLst/>
              <a:cxnLst/>
              <a:rect r="r" b="b" t="t" l="l"/>
              <a:pathLst>
                <a:path h="6706230" w="6706230">
                  <a:moveTo>
                    <a:pt x="0" y="0"/>
                  </a:moveTo>
                  <a:lnTo>
                    <a:pt x="6706230" y="0"/>
                  </a:lnTo>
                  <a:lnTo>
                    <a:pt x="6706230" y="6706230"/>
                  </a:lnTo>
                  <a:lnTo>
                    <a:pt x="0" y="6706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076101" y="0"/>
              <a:ext cx="4554028" cy="12184691"/>
            </a:xfrm>
            <a:custGeom>
              <a:avLst/>
              <a:gdLst/>
              <a:ahLst/>
              <a:cxnLst/>
              <a:rect r="r" b="b" t="t" l="l"/>
              <a:pathLst>
                <a:path h="12184691" w="4554028">
                  <a:moveTo>
                    <a:pt x="0" y="0"/>
                  </a:moveTo>
                  <a:lnTo>
                    <a:pt x="4554028" y="0"/>
                  </a:lnTo>
                  <a:lnTo>
                    <a:pt x="4554028" y="12184691"/>
                  </a:lnTo>
                  <a:lnTo>
                    <a:pt x="0" y="12184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45888" y="3058589"/>
            <a:ext cx="10995955" cy="57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0537" indent="-350269" lvl="1">
              <a:lnSpc>
                <a:spcPts val="4542"/>
              </a:lnSpc>
              <a:buFont typeface="Arial"/>
              <a:buChar char="•"/>
            </a:pPr>
            <a:r>
              <a:rPr lang="en-US" sz="3244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project simulates a battle between Vikings and Saxons.</a:t>
            </a:r>
          </a:p>
          <a:p>
            <a:pPr algn="l" marL="700537" indent="-350269" lvl="1">
              <a:lnSpc>
                <a:spcPts val="4542"/>
              </a:lnSpc>
              <a:buFont typeface="Arial"/>
              <a:buChar char="•"/>
            </a:pPr>
            <a:r>
              <a:rPr lang="en-US" sz="3244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demonstrates</a:t>
            </a:r>
            <a:r>
              <a:rPr lang="en-US" sz="3244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Object-Oriented Programming (OOP) concepts such as:</a:t>
            </a:r>
          </a:p>
          <a:p>
            <a:pPr algn="l" marL="1401075" indent="-467025" lvl="2">
              <a:lnSpc>
                <a:spcPts val="4542"/>
              </a:lnSpc>
              <a:buFont typeface="Arial"/>
              <a:buChar char="⚬"/>
            </a:pPr>
            <a:r>
              <a:rPr lang="en-US" sz="3244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Classes and Inheritance</a:t>
            </a:r>
          </a:p>
          <a:p>
            <a:pPr algn="l" marL="1401075" indent="-467025" lvl="2">
              <a:lnSpc>
                <a:spcPts val="4542"/>
              </a:lnSpc>
              <a:buFont typeface="Arial"/>
              <a:buChar char="⚬"/>
            </a:pPr>
            <a:r>
              <a:rPr lang="en-US" sz="3244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Encapsulation of behavior and attributes</a:t>
            </a:r>
          </a:p>
          <a:p>
            <a:pPr algn="l" marL="1401075" indent="-467025" lvl="2">
              <a:lnSpc>
                <a:spcPts val="4542"/>
              </a:lnSpc>
              <a:buFont typeface="Arial"/>
              <a:buChar char="⚬"/>
            </a:pPr>
            <a:r>
              <a:rPr lang="en-US" sz="3244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Interaction between objects through methods</a:t>
            </a:r>
          </a:p>
          <a:p>
            <a:pPr algn="l" marL="1401075" indent="-467025" lvl="2">
              <a:lnSpc>
                <a:spcPts val="4542"/>
              </a:lnSpc>
              <a:buFont typeface="Arial"/>
              <a:buChar char="⚬"/>
            </a:pPr>
            <a:r>
              <a:rPr lang="en-US" sz="3244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Randomized battle simulation using the random module</a:t>
            </a:r>
          </a:p>
          <a:p>
            <a:pPr algn="l">
              <a:lnSpc>
                <a:spcPts val="454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977443" y="608272"/>
            <a:ext cx="11532846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85846"/>
                </a:solidFill>
                <a:latin typeface="Noot"/>
                <a:ea typeface="Noot"/>
                <a:cs typeface="Noot"/>
                <a:sym typeface="Noot"/>
              </a:rPr>
              <a:t>Project Overview: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79018">
            <a:off x="1275160" y="1324547"/>
            <a:ext cx="17386735" cy="9540971"/>
          </a:xfrm>
          <a:custGeom>
            <a:avLst/>
            <a:gdLst/>
            <a:ahLst/>
            <a:cxnLst/>
            <a:rect r="r" b="b" t="t" l="l"/>
            <a:pathLst>
              <a:path h="9540971" w="17386735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78633" y="582681"/>
            <a:ext cx="1258328" cy="1762981"/>
          </a:xfrm>
          <a:custGeom>
            <a:avLst/>
            <a:gdLst/>
            <a:ahLst/>
            <a:cxnLst/>
            <a:rect r="r" b="b" t="t" l="l"/>
            <a:pathLst>
              <a:path h="1762981" w="1258328">
                <a:moveTo>
                  <a:pt x="0" y="0"/>
                </a:moveTo>
                <a:lnTo>
                  <a:pt x="1258328" y="0"/>
                </a:lnTo>
                <a:lnTo>
                  <a:pt x="1258328" y="1762981"/>
                </a:lnTo>
                <a:lnTo>
                  <a:pt x="0" y="1762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22870" y="3346749"/>
            <a:ext cx="7393119" cy="5163751"/>
          </a:xfrm>
          <a:custGeom>
            <a:avLst/>
            <a:gdLst/>
            <a:ahLst/>
            <a:cxnLst/>
            <a:rect r="r" b="b" t="t" l="l"/>
            <a:pathLst>
              <a:path h="5163751" w="7393119">
                <a:moveTo>
                  <a:pt x="0" y="0"/>
                </a:moveTo>
                <a:lnTo>
                  <a:pt x="7393119" y="0"/>
                </a:lnTo>
                <a:lnTo>
                  <a:pt x="7393119" y="5163751"/>
                </a:lnTo>
                <a:lnTo>
                  <a:pt x="0" y="51637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06514" y="690552"/>
            <a:ext cx="7662585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25240"/>
                </a:solidFill>
                <a:latin typeface="Noot"/>
                <a:ea typeface="Noot"/>
                <a:cs typeface="Noot"/>
                <a:sym typeface="Noot"/>
              </a:rPr>
              <a:t>Soldiers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9846" y="3384849"/>
            <a:ext cx="8181556" cy="575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639" indent="-334820" lvl="1">
              <a:lnSpc>
                <a:spcPts val="3287"/>
              </a:lnSpc>
              <a:buFont typeface="Arial"/>
              <a:buChar char="•"/>
            </a:pP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Soldier class is the base class for all warriors. It’s the blueprint of our code and where we define all the attributes that will be inherited.</a:t>
            </a:r>
          </a:p>
          <a:p>
            <a:pPr algn="just">
              <a:lnSpc>
                <a:spcPts val="3287"/>
              </a:lnSpc>
            </a:pPr>
          </a:p>
          <a:p>
            <a:pPr algn="just" marL="669639" indent="-334820" lvl="1">
              <a:lnSpc>
                <a:spcPts val="3287"/>
              </a:lnSpc>
              <a:buFont typeface="Arial"/>
              <a:buChar char="•"/>
            </a:pP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Attributes:</a:t>
            </a:r>
          </a:p>
          <a:p>
            <a:pPr algn="just">
              <a:lnSpc>
                <a:spcPts val="3287"/>
              </a:lnSpc>
            </a:pP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</a:t>
            </a: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 health: represents the soldier's life points</a:t>
            </a:r>
          </a:p>
          <a:p>
            <a:pPr algn="just">
              <a:lnSpc>
                <a:spcPts val="3287"/>
              </a:lnSpc>
            </a:pP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- strength: represents the attack power</a:t>
            </a:r>
          </a:p>
          <a:p>
            <a:pPr algn="just">
              <a:lnSpc>
                <a:spcPts val="3287"/>
              </a:lnSpc>
            </a:pPr>
          </a:p>
          <a:p>
            <a:pPr algn="just" marL="669639" indent="-334820" lvl="1">
              <a:lnSpc>
                <a:spcPts val="3287"/>
              </a:lnSpc>
              <a:buFont typeface="Arial"/>
              <a:buChar char="•"/>
            </a:pP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Methods:</a:t>
            </a:r>
          </a:p>
          <a:p>
            <a:pPr algn="just">
              <a:lnSpc>
                <a:spcPts val="3287"/>
              </a:lnSpc>
            </a:pP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</a:t>
            </a: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 attack(): returns the soldier's strength value</a:t>
            </a:r>
          </a:p>
          <a:p>
            <a:pPr algn="just">
              <a:lnSpc>
                <a:spcPts val="3287"/>
              </a:lnSpc>
            </a:pP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- receiveDamage(damage): decreases health by the given damage value</a:t>
            </a:r>
          </a:p>
          <a:p>
            <a:pPr algn="ctr">
              <a:lnSpc>
                <a:spcPts val="328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79018">
            <a:off x="1275160" y="1324547"/>
            <a:ext cx="17386735" cy="9540971"/>
          </a:xfrm>
          <a:custGeom>
            <a:avLst/>
            <a:gdLst/>
            <a:ahLst/>
            <a:cxnLst/>
            <a:rect r="r" b="b" t="t" l="l"/>
            <a:pathLst>
              <a:path h="9540971" w="17386735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3387" y="5143500"/>
            <a:ext cx="3935951" cy="3808032"/>
          </a:xfrm>
          <a:custGeom>
            <a:avLst/>
            <a:gdLst/>
            <a:ahLst/>
            <a:cxnLst/>
            <a:rect r="r" b="b" t="t" l="l"/>
            <a:pathLst>
              <a:path h="3808032" w="3935951">
                <a:moveTo>
                  <a:pt x="0" y="0"/>
                </a:moveTo>
                <a:lnTo>
                  <a:pt x="3935950" y="0"/>
                </a:lnTo>
                <a:lnTo>
                  <a:pt x="3935950" y="3808032"/>
                </a:lnTo>
                <a:lnTo>
                  <a:pt x="0" y="38080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13049" y="383300"/>
            <a:ext cx="7662585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25240"/>
                </a:solidFill>
                <a:latin typeface="Noot"/>
                <a:ea typeface="Noot"/>
                <a:cs typeface="Noot"/>
                <a:sym typeface="Noot"/>
              </a:rPr>
              <a:t>Vikings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173057" y="670046"/>
            <a:ext cx="1432129" cy="1426759"/>
          </a:xfrm>
          <a:custGeom>
            <a:avLst/>
            <a:gdLst/>
            <a:ahLst/>
            <a:cxnLst/>
            <a:rect r="r" b="b" t="t" l="l"/>
            <a:pathLst>
              <a:path h="1426759" w="1432129">
                <a:moveTo>
                  <a:pt x="0" y="0"/>
                </a:moveTo>
                <a:lnTo>
                  <a:pt x="1432129" y="0"/>
                </a:lnTo>
                <a:lnTo>
                  <a:pt x="1432129" y="1426758"/>
                </a:lnTo>
                <a:lnTo>
                  <a:pt x="0" y="14267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10278" y="2327563"/>
            <a:ext cx="11982130" cy="887138"/>
          </a:xfrm>
          <a:custGeom>
            <a:avLst/>
            <a:gdLst/>
            <a:ahLst/>
            <a:cxnLst/>
            <a:rect r="r" b="b" t="t" l="l"/>
            <a:pathLst>
              <a:path h="887138" w="11982130">
                <a:moveTo>
                  <a:pt x="0" y="0"/>
                </a:moveTo>
                <a:lnTo>
                  <a:pt x="11982129" y="0"/>
                </a:lnTo>
                <a:lnTo>
                  <a:pt x="11982129" y="887138"/>
                </a:lnTo>
                <a:lnTo>
                  <a:pt x="0" y="8871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10278" y="4257498"/>
            <a:ext cx="9256809" cy="5368507"/>
          </a:xfrm>
          <a:custGeom>
            <a:avLst/>
            <a:gdLst/>
            <a:ahLst/>
            <a:cxnLst/>
            <a:rect r="r" b="b" t="t" l="l"/>
            <a:pathLst>
              <a:path h="5368507" w="9256809">
                <a:moveTo>
                  <a:pt x="0" y="0"/>
                </a:moveTo>
                <a:lnTo>
                  <a:pt x="9256809" y="0"/>
                </a:lnTo>
                <a:lnTo>
                  <a:pt x="9256809" y="5368508"/>
                </a:lnTo>
                <a:lnTo>
                  <a:pt x="0" y="53685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410278" y="3462351"/>
            <a:ext cx="5994240" cy="652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44"/>
              </a:lnSpc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When a Viking is attacked by a Saxon, he receives a damage and its health is reduced.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79018">
            <a:off x="1275160" y="1324547"/>
            <a:ext cx="17386735" cy="9540971"/>
          </a:xfrm>
          <a:custGeom>
            <a:avLst/>
            <a:gdLst/>
            <a:ahLst/>
            <a:cxnLst/>
            <a:rect r="r" b="b" t="t" l="l"/>
            <a:pathLst>
              <a:path h="9540971" w="17386735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65214" y="394722"/>
            <a:ext cx="9541271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25240"/>
                </a:solidFill>
                <a:latin typeface="Noot"/>
                <a:ea typeface="Noot"/>
                <a:cs typeface="Noot"/>
                <a:sym typeface="Noot"/>
              </a:rPr>
              <a:t>Saxons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99078" y="4708297"/>
            <a:ext cx="3965776" cy="4298944"/>
          </a:xfrm>
          <a:custGeom>
            <a:avLst/>
            <a:gdLst/>
            <a:ahLst/>
            <a:cxnLst/>
            <a:rect r="r" b="b" t="t" l="l"/>
            <a:pathLst>
              <a:path h="4298944" w="3965776">
                <a:moveTo>
                  <a:pt x="0" y="0"/>
                </a:moveTo>
                <a:lnTo>
                  <a:pt x="3965776" y="0"/>
                </a:lnTo>
                <a:lnTo>
                  <a:pt x="3965776" y="4298944"/>
                </a:lnTo>
                <a:lnTo>
                  <a:pt x="0" y="4298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82622" y="555232"/>
            <a:ext cx="442897" cy="1679230"/>
          </a:xfrm>
          <a:custGeom>
            <a:avLst/>
            <a:gdLst/>
            <a:ahLst/>
            <a:cxnLst/>
            <a:rect r="r" b="b" t="t" l="l"/>
            <a:pathLst>
              <a:path h="1679230" w="442897">
                <a:moveTo>
                  <a:pt x="0" y="0"/>
                </a:moveTo>
                <a:lnTo>
                  <a:pt x="442897" y="0"/>
                </a:lnTo>
                <a:lnTo>
                  <a:pt x="442897" y="1679230"/>
                </a:lnTo>
                <a:lnTo>
                  <a:pt x="0" y="16792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54601" y="2885134"/>
            <a:ext cx="11056042" cy="6122107"/>
          </a:xfrm>
          <a:custGeom>
            <a:avLst/>
            <a:gdLst/>
            <a:ahLst/>
            <a:cxnLst/>
            <a:rect r="r" b="b" t="t" l="l"/>
            <a:pathLst>
              <a:path h="6122107" w="11056042">
                <a:moveTo>
                  <a:pt x="0" y="0"/>
                </a:moveTo>
                <a:lnTo>
                  <a:pt x="11056042" y="0"/>
                </a:lnTo>
                <a:lnTo>
                  <a:pt x="11056042" y="6122107"/>
                </a:lnTo>
                <a:lnTo>
                  <a:pt x="0" y="61221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79018">
            <a:off x="1275160" y="1324547"/>
            <a:ext cx="17386735" cy="9540971"/>
          </a:xfrm>
          <a:custGeom>
            <a:avLst/>
            <a:gdLst/>
            <a:ahLst/>
            <a:cxnLst/>
            <a:rect r="r" b="b" t="t" l="l"/>
            <a:pathLst>
              <a:path h="9540971" w="17386735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27012" y="290640"/>
            <a:ext cx="2405387" cy="1795020"/>
          </a:xfrm>
          <a:custGeom>
            <a:avLst/>
            <a:gdLst/>
            <a:ahLst/>
            <a:cxnLst/>
            <a:rect r="r" b="b" t="t" l="l"/>
            <a:pathLst>
              <a:path h="1795020" w="2405387">
                <a:moveTo>
                  <a:pt x="0" y="0"/>
                </a:moveTo>
                <a:lnTo>
                  <a:pt x="2405387" y="0"/>
                </a:lnTo>
                <a:lnTo>
                  <a:pt x="2405387" y="1795020"/>
                </a:lnTo>
                <a:lnTo>
                  <a:pt x="0" y="1795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208238" y="290640"/>
            <a:ext cx="2405387" cy="1795020"/>
          </a:xfrm>
          <a:custGeom>
            <a:avLst/>
            <a:gdLst/>
            <a:ahLst/>
            <a:cxnLst/>
            <a:rect r="r" b="b" t="t" l="l"/>
            <a:pathLst>
              <a:path h="1795020" w="2405387">
                <a:moveTo>
                  <a:pt x="2405387" y="0"/>
                </a:moveTo>
                <a:lnTo>
                  <a:pt x="0" y="0"/>
                </a:lnTo>
                <a:lnTo>
                  <a:pt x="0" y="1795020"/>
                </a:lnTo>
                <a:lnTo>
                  <a:pt x="2405387" y="1795020"/>
                </a:lnTo>
                <a:lnTo>
                  <a:pt x="24053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43957" y="2618408"/>
            <a:ext cx="6965771" cy="5050184"/>
          </a:xfrm>
          <a:custGeom>
            <a:avLst/>
            <a:gdLst/>
            <a:ahLst/>
            <a:cxnLst/>
            <a:rect r="r" b="b" t="t" l="l"/>
            <a:pathLst>
              <a:path h="5050184" w="6965771">
                <a:moveTo>
                  <a:pt x="0" y="0"/>
                </a:moveTo>
                <a:lnTo>
                  <a:pt x="6965771" y="0"/>
                </a:lnTo>
                <a:lnTo>
                  <a:pt x="6965771" y="5050184"/>
                </a:lnTo>
                <a:lnTo>
                  <a:pt x="0" y="50501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84647" y="188025"/>
            <a:ext cx="9248762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25240"/>
                </a:solidFill>
                <a:latin typeface="Noot"/>
                <a:ea typeface="Noot"/>
                <a:cs typeface="Noot"/>
                <a:sym typeface="Noot"/>
              </a:rPr>
              <a:t>War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92311" y="2914335"/>
            <a:ext cx="5994240" cy="3635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5776" indent="-327888" lvl="1">
              <a:lnSpc>
                <a:spcPts val="3219"/>
              </a:lnSpc>
              <a:buFont typeface="Arial"/>
              <a:buChar char="•"/>
            </a:pPr>
            <a:r>
              <a:rPr lang="en-US" sz="3037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Manages the battle between Vikings and Saxons </a:t>
            </a:r>
          </a:p>
          <a:p>
            <a:pPr algn="just">
              <a:lnSpc>
                <a:spcPts val="3219"/>
              </a:lnSpc>
            </a:pPr>
          </a:p>
          <a:p>
            <a:pPr algn="just" marL="655776" indent="-327888" lvl="1">
              <a:lnSpc>
                <a:spcPts val="3219"/>
              </a:lnSpc>
              <a:buFont typeface="Arial"/>
              <a:buChar char="•"/>
            </a:pPr>
            <a:r>
              <a:rPr lang="en-US" sz="3037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Maintains two armies: vikingArmy and saxonArmy</a:t>
            </a:r>
          </a:p>
          <a:p>
            <a:pPr algn="just">
              <a:lnSpc>
                <a:spcPts val="3219"/>
              </a:lnSpc>
            </a:pPr>
          </a:p>
          <a:p>
            <a:pPr algn="just" marL="655776" indent="-327888" lvl="1">
              <a:lnSpc>
                <a:spcPts val="3219"/>
              </a:lnSpc>
              <a:buFont typeface="Arial"/>
              <a:buChar char="•"/>
            </a:pPr>
            <a:r>
              <a:rPr lang="en-US" sz="3037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Implements game mechanics including attacks and status checking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79018">
            <a:off x="1275160" y="1324547"/>
            <a:ext cx="17386735" cy="9540971"/>
          </a:xfrm>
          <a:custGeom>
            <a:avLst/>
            <a:gdLst/>
            <a:ahLst/>
            <a:cxnLst/>
            <a:rect r="r" b="b" t="t" l="l"/>
            <a:pathLst>
              <a:path h="9540971" w="17386735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0282" y="340215"/>
            <a:ext cx="2405387" cy="1795020"/>
          </a:xfrm>
          <a:custGeom>
            <a:avLst/>
            <a:gdLst/>
            <a:ahLst/>
            <a:cxnLst/>
            <a:rect r="r" b="b" t="t" l="l"/>
            <a:pathLst>
              <a:path h="1795020" w="2405387">
                <a:moveTo>
                  <a:pt x="0" y="0"/>
                </a:moveTo>
                <a:lnTo>
                  <a:pt x="2405386" y="0"/>
                </a:lnTo>
                <a:lnTo>
                  <a:pt x="2405386" y="1795020"/>
                </a:lnTo>
                <a:lnTo>
                  <a:pt x="0" y="1795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258438" y="340215"/>
            <a:ext cx="2405387" cy="1795020"/>
          </a:xfrm>
          <a:custGeom>
            <a:avLst/>
            <a:gdLst/>
            <a:ahLst/>
            <a:cxnLst/>
            <a:rect r="r" b="b" t="t" l="l"/>
            <a:pathLst>
              <a:path h="1795020" w="2405387">
                <a:moveTo>
                  <a:pt x="2405386" y="0"/>
                </a:moveTo>
                <a:lnTo>
                  <a:pt x="0" y="0"/>
                </a:lnTo>
                <a:lnTo>
                  <a:pt x="0" y="1795020"/>
                </a:lnTo>
                <a:lnTo>
                  <a:pt x="2405386" y="1795020"/>
                </a:lnTo>
                <a:lnTo>
                  <a:pt x="240538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8345" y="4271062"/>
            <a:ext cx="6894792" cy="5292129"/>
          </a:xfrm>
          <a:custGeom>
            <a:avLst/>
            <a:gdLst/>
            <a:ahLst/>
            <a:cxnLst/>
            <a:rect r="r" b="b" t="t" l="l"/>
            <a:pathLst>
              <a:path h="5292129" w="6894792">
                <a:moveTo>
                  <a:pt x="0" y="0"/>
                </a:moveTo>
                <a:lnTo>
                  <a:pt x="6894792" y="0"/>
                </a:lnTo>
                <a:lnTo>
                  <a:pt x="6894792" y="5292128"/>
                </a:lnTo>
                <a:lnTo>
                  <a:pt x="0" y="52921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34251" y="4271062"/>
            <a:ext cx="6925049" cy="5297580"/>
          </a:xfrm>
          <a:custGeom>
            <a:avLst/>
            <a:gdLst/>
            <a:ahLst/>
            <a:cxnLst/>
            <a:rect r="r" b="b" t="t" l="l"/>
            <a:pathLst>
              <a:path h="5297580" w="6925049">
                <a:moveTo>
                  <a:pt x="0" y="0"/>
                </a:moveTo>
                <a:lnTo>
                  <a:pt x="6925049" y="0"/>
                </a:lnTo>
                <a:lnTo>
                  <a:pt x="6925049" y="5297580"/>
                </a:lnTo>
                <a:lnTo>
                  <a:pt x="0" y="529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83454" y="237600"/>
            <a:ext cx="11280370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25240"/>
                </a:solidFill>
                <a:latin typeface="Noot"/>
                <a:ea typeface="Noot"/>
                <a:cs typeface="Noot"/>
                <a:sym typeface="Noot"/>
              </a:rPr>
              <a:t>War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4079" y="2345009"/>
            <a:ext cx="11540852" cy="1280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44"/>
              </a:lnSpc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War class orchestrates battles by: </a:t>
            </a:r>
          </a:p>
          <a:p>
            <a:pPr algn="just" marL="518160" indent="-259080" lvl="1">
              <a:lnSpc>
                <a:spcPts val="2544"/>
              </a:lnSpc>
              <a:buFont typeface="Arial"/>
              <a:buChar char="•"/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1. Having Vikings and Saxons attack each other </a:t>
            </a:r>
          </a:p>
          <a:p>
            <a:pPr algn="just" marL="518160" indent="-259080" lvl="1">
              <a:lnSpc>
                <a:spcPts val="2544"/>
              </a:lnSpc>
              <a:buFont typeface="Arial"/>
              <a:buChar char="•"/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2. Removing defeated soldiers from their respective armies </a:t>
            </a:r>
          </a:p>
          <a:p>
            <a:pPr algn="just" marL="518160" indent="-259080" lvl="1">
              <a:lnSpc>
                <a:spcPts val="2544"/>
              </a:lnSpc>
              <a:buFont typeface="Arial"/>
              <a:buChar char="•"/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3. Providing status updates on the war’s progress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17109" y="3933115"/>
            <a:ext cx="2140634" cy="33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44"/>
              </a:lnSpc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Viking Attack: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26458" y="3933115"/>
            <a:ext cx="2140634" cy="33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44"/>
              </a:lnSpc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Saxon Attack: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79018">
            <a:off x="1275160" y="1324547"/>
            <a:ext cx="17386735" cy="9540971"/>
          </a:xfrm>
          <a:custGeom>
            <a:avLst/>
            <a:gdLst/>
            <a:ahLst/>
            <a:cxnLst/>
            <a:rect r="r" b="b" t="t" l="l"/>
            <a:pathLst>
              <a:path h="9540971" w="17386735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0282" y="340215"/>
            <a:ext cx="2405387" cy="1795020"/>
          </a:xfrm>
          <a:custGeom>
            <a:avLst/>
            <a:gdLst/>
            <a:ahLst/>
            <a:cxnLst/>
            <a:rect r="r" b="b" t="t" l="l"/>
            <a:pathLst>
              <a:path h="1795020" w="2405387">
                <a:moveTo>
                  <a:pt x="0" y="0"/>
                </a:moveTo>
                <a:lnTo>
                  <a:pt x="2405386" y="0"/>
                </a:lnTo>
                <a:lnTo>
                  <a:pt x="2405386" y="1795020"/>
                </a:lnTo>
                <a:lnTo>
                  <a:pt x="0" y="1795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258438" y="340215"/>
            <a:ext cx="2405387" cy="1795020"/>
          </a:xfrm>
          <a:custGeom>
            <a:avLst/>
            <a:gdLst/>
            <a:ahLst/>
            <a:cxnLst/>
            <a:rect r="r" b="b" t="t" l="l"/>
            <a:pathLst>
              <a:path h="1795020" w="2405387">
                <a:moveTo>
                  <a:pt x="2405386" y="0"/>
                </a:moveTo>
                <a:lnTo>
                  <a:pt x="0" y="0"/>
                </a:lnTo>
                <a:lnTo>
                  <a:pt x="0" y="1795020"/>
                </a:lnTo>
                <a:lnTo>
                  <a:pt x="2405386" y="1795020"/>
                </a:lnTo>
                <a:lnTo>
                  <a:pt x="240538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01276" y="4240280"/>
            <a:ext cx="11025869" cy="2791581"/>
          </a:xfrm>
          <a:custGeom>
            <a:avLst/>
            <a:gdLst/>
            <a:ahLst/>
            <a:cxnLst/>
            <a:rect r="r" b="b" t="t" l="l"/>
            <a:pathLst>
              <a:path h="2791581" w="11025869">
                <a:moveTo>
                  <a:pt x="0" y="0"/>
                </a:moveTo>
                <a:lnTo>
                  <a:pt x="11025869" y="0"/>
                </a:lnTo>
                <a:lnTo>
                  <a:pt x="11025869" y="2791582"/>
                </a:lnTo>
                <a:lnTo>
                  <a:pt x="0" y="27915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83454" y="237600"/>
            <a:ext cx="11280370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25240"/>
                </a:solidFill>
                <a:latin typeface="Noot"/>
                <a:ea typeface="Noot"/>
                <a:cs typeface="Noot"/>
                <a:sym typeface="Noot"/>
              </a:rPr>
              <a:t>War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42824" y="3508130"/>
            <a:ext cx="5542771" cy="33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44"/>
              </a:lnSpc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Defining the status of the War: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79018">
            <a:off x="1275160" y="1324547"/>
            <a:ext cx="17386735" cy="9540971"/>
          </a:xfrm>
          <a:custGeom>
            <a:avLst/>
            <a:gdLst/>
            <a:ahLst/>
            <a:cxnLst/>
            <a:rect r="r" b="b" t="t" l="l"/>
            <a:pathLst>
              <a:path h="9540971" w="17386735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80674" y="4143375"/>
            <a:ext cx="8326652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85846"/>
                </a:solidFill>
                <a:latin typeface="Noot"/>
                <a:ea typeface="Noot"/>
                <a:cs typeface="Noot"/>
                <a:sym typeface="Noot"/>
              </a:rPr>
              <a:t>Thank You!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155213" y="2485482"/>
            <a:ext cx="2925849" cy="5316036"/>
            <a:chOff x="0" y="0"/>
            <a:chExt cx="3901131" cy="70880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428031"/>
              <a:ext cx="3901131" cy="3901131"/>
            </a:xfrm>
            <a:custGeom>
              <a:avLst/>
              <a:gdLst/>
              <a:ahLst/>
              <a:cxnLst/>
              <a:rect r="r" b="b" t="t" l="l"/>
              <a:pathLst>
                <a:path h="3901131" w="3901131">
                  <a:moveTo>
                    <a:pt x="0" y="0"/>
                  </a:moveTo>
                  <a:lnTo>
                    <a:pt x="3901131" y="0"/>
                  </a:lnTo>
                  <a:lnTo>
                    <a:pt x="3901131" y="3901132"/>
                  </a:lnTo>
                  <a:lnTo>
                    <a:pt x="0" y="3901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25987" y="0"/>
              <a:ext cx="2649158" cy="7088048"/>
            </a:xfrm>
            <a:custGeom>
              <a:avLst/>
              <a:gdLst/>
              <a:ahLst/>
              <a:cxnLst/>
              <a:rect r="r" b="b" t="t" l="l"/>
              <a:pathLst>
                <a:path h="7088048" w="2649158">
                  <a:moveTo>
                    <a:pt x="0" y="0"/>
                  </a:moveTo>
                  <a:lnTo>
                    <a:pt x="2649158" y="0"/>
                  </a:lnTo>
                  <a:lnTo>
                    <a:pt x="2649158" y="7088048"/>
                  </a:lnTo>
                  <a:lnTo>
                    <a:pt x="0" y="7088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206938" y="2485482"/>
            <a:ext cx="2925849" cy="5316036"/>
            <a:chOff x="0" y="0"/>
            <a:chExt cx="3901131" cy="70880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428031"/>
              <a:ext cx="3901131" cy="3901131"/>
            </a:xfrm>
            <a:custGeom>
              <a:avLst/>
              <a:gdLst/>
              <a:ahLst/>
              <a:cxnLst/>
              <a:rect r="r" b="b" t="t" l="l"/>
              <a:pathLst>
                <a:path h="3901131" w="3901131">
                  <a:moveTo>
                    <a:pt x="0" y="0"/>
                  </a:moveTo>
                  <a:lnTo>
                    <a:pt x="3901131" y="0"/>
                  </a:lnTo>
                  <a:lnTo>
                    <a:pt x="3901131" y="3901132"/>
                  </a:lnTo>
                  <a:lnTo>
                    <a:pt x="0" y="3901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25987" y="0"/>
              <a:ext cx="2649158" cy="7088048"/>
            </a:xfrm>
            <a:custGeom>
              <a:avLst/>
              <a:gdLst/>
              <a:ahLst/>
              <a:cxnLst/>
              <a:rect r="r" b="b" t="t" l="l"/>
              <a:pathLst>
                <a:path h="7088048" w="2649158">
                  <a:moveTo>
                    <a:pt x="0" y="0"/>
                  </a:moveTo>
                  <a:lnTo>
                    <a:pt x="2649158" y="0"/>
                  </a:lnTo>
                  <a:lnTo>
                    <a:pt x="2649158" y="7088048"/>
                  </a:lnTo>
                  <a:lnTo>
                    <a:pt x="0" y="7088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DAG1YBkIMjU</dc:identifier>
  <dcterms:modified xsi:type="dcterms:W3CDTF">2011-08-01T06:04:30Z</dcterms:modified>
  <cp:revision>1</cp:revision>
  <dc:title>The Vikings War Project</dc:title>
</cp:coreProperties>
</file>