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2"/>
  </p:notesMasterIdLst>
  <p:handoutMasterIdLst>
    <p:handoutMasterId r:id="rId13"/>
  </p:handoutMasterIdLst>
  <p:sldIdLst>
    <p:sldId id="410" r:id="rId5"/>
    <p:sldId id="383" r:id="rId6"/>
    <p:sldId id="408" r:id="rId7"/>
    <p:sldId id="404" r:id="rId8"/>
    <p:sldId id="411" r:id="rId9"/>
    <p:sldId id="407" r:id="rId10"/>
    <p:sldId id="39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7/15/2025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7/15/2025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4C0B4-64C7-3F6E-E3DD-600756292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4EB455-5B64-FE9B-DD4F-DD70FB05C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74810C-8B12-ED0E-F905-7DD3F146F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6D26B-93D4-F963-1BF2-9E93BA6ED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4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zh-TW" altLang="en-US"/>
              <a:t>按一下圖示以新增表格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192" y="411479"/>
            <a:ext cx="11311112" cy="3291840"/>
          </a:xfrm>
        </p:spPr>
        <p:txBody>
          <a:bodyPr/>
          <a:lstStyle/>
          <a:p>
            <a:r>
              <a:rPr lang="en-US" dirty="0"/>
              <a:t>Vikings vs Saxons War Game ⚔️</a:t>
            </a:r>
            <a:br>
              <a:rPr lang="en-US" dirty="0"/>
            </a:br>
            <a:r>
              <a:rPr lang="en-US" sz="2000" dirty="0"/>
              <a:t>Object-Oriented Programming Battle Simulation</a:t>
            </a:r>
          </a:p>
        </p:txBody>
      </p:sp>
      <p:sp>
        <p:nvSpPr>
          <p:cNvPr id="3" name="文字版面配置區 4">
            <a:extLst>
              <a:ext uri="{FF2B5EF4-FFF2-40B4-BE49-F238E27FC236}">
                <a16:creationId xmlns:a16="http://schemas.microsoft.com/office/drawing/2014/main" id="{08B73A53-B110-4D58-71E4-B0DC496392FF}"/>
              </a:ext>
            </a:extLst>
          </p:cNvPr>
          <p:cNvSpPr txBox="1">
            <a:spLocks/>
          </p:cNvSpPr>
          <p:nvPr/>
        </p:nvSpPr>
        <p:spPr>
          <a:xfrm>
            <a:off x="8151521" y="4512452"/>
            <a:ext cx="5486400" cy="1646238"/>
          </a:xfrm>
          <a:prstGeom prst="rect">
            <a:avLst/>
          </a:prstGeom>
        </p:spPr>
        <p:txBody>
          <a:bodyPr/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Nekky.L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42812" y="2803752"/>
            <a:ext cx="6788150" cy="3709987"/>
          </a:xfrm>
        </p:spPr>
        <p:txBody>
          <a:bodyPr tIns="457200">
            <a:normAutofit/>
          </a:bodyPr>
          <a:lstStyle/>
          <a:p>
            <a:r>
              <a:rPr lang="en-US" sz="3200" b="0" dirty="0"/>
              <a:t>🏗️</a:t>
            </a:r>
            <a:r>
              <a:rPr lang="en-US" sz="3200" dirty="0"/>
              <a:t>Architecture </a:t>
            </a:r>
            <a:r>
              <a:rPr lang="en-US" sz="3200" b="0" dirty="0"/>
              <a:t>4 Core Classes</a:t>
            </a:r>
          </a:p>
          <a:p>
            <a:r>
              <a:rPr lang="en-US" sz="3200" b="0" dirty="0"/>
              <a:t>⚡</a:t>
            </a:r>
            <a:r>
              <a:rPr lang="en-US" sz="3200" dirty="0"/>
              <a:t>Simulation </a:t>
            </a:r>
            <a:r>
              <a:rPr lang="en-US" sz="3200" b="0" dirty="0"/>
              <a:t>Real-time Battle</a:t>
            </a:r>
          </a:p>
          <a:p>
            <a:r>
              <a:rPr lang="en-US" sz="3200" b="0" dirty="0"/>
              <a:t>🧪</a:t>
            </a:r>
            <a:r>
              <a:rPr lang="en-US" sz="3200" dirty="0"/>
              <a:t>Testing </a:t>
            </a:r>
            <a:r>
              <a:rPr lang="en-US" sz="3200" b="0" dirty="0"/>
              <a:t>Automated Suite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1BE608B-BED4-5B5F-724C-BC00797B0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524337"/>
              </p:ext>
            </p:extLst>
          </p:nvPr>
        </p:nvGraphicFramePr>
        <p:xfrm>
          <a:off x="800358" y="2408508"/>
          <a:ext cx="10881568" cy="4197096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440784">
                  <a:extLst>
                    <a:ext uri="{9D8B030D-6E8A-4147-A177-3AD203B41FA5}">
                      <a16:colId xmlns:a16="http://schemas.microsoft.com/office/drawing/2014/main" val="1654638225"/>
                    </a:ext>
                  </a:extLst>
                </a:gridCol>
                <a:gridCol w="5440784">
                  <a:extLst>
                    <a:ext uri="{9D8B030D-6E8A-4147-A177-3AD203B41FA5}">
                      <a16:colId xmlns:a16="http://schemas.microsoft.com/office/drawing/2014/main" val="3812017258"/>
                    </a:ext>
                  </a:extLst>
                </a:gridCol>
              </a:tblGrid>
              <a:tr h="202413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1" dirty="0"/>
                        <a:t>👨‍💼 Soldier (Base Class)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• Core attributes: health, strength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• Methods: attack(), </a:t>
                      </a:r>
                      <a:r>
                        <a:rPr lang="en-US" dirty="0" err="1"/>
                        <a:t>receiveDamage</a:t>
                      </a:r>
                      <a:r>
                        <a:rPr lang="en-US" dirty="0"/>
                        <a:t>()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• Foundation for inheritance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1" dirty="0"/>
                        <a:t>🛡️ Saxon (Inherits Soldier)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• Uses base Soldier attributes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• Custom </a:t>
                      </a:r>
                      <a:r>
                        <a:rPr lang="en-US" dirty="0" err="1"/>
                        <a:t>receiveDamage</a:t>
                      </a:r>
                      <a:r>
                        <a:rPr lang="en-US" dirty="0"/>
                        <a:t>() method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• Anonymous warrior messages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270167"/>
                  </a:ext>
                </a:extLst>
              </a:tr>
              <a:tr h="202413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1" dirty="0"/>
                        <a:t>⚔️ Viking (Inherits Soldier)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• Additional attribute: name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• Custom </a:t>
                      </a:r>
                      <a:r>
                        <a:rPr lang="en-US" dirty="0" err="1"/>
                        <a:t>receiveDamage</a:t>
                      </a:r>
                      <a:r>
                        <a:rPr lang="en-US" dirty="0"/>
                        <a:t>() method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• </a:t>
                      </a:r>
                      <a:r>
                        <a:rPr lang="en-US" dirty="0" err="1"/>
                        <a:t>battleCry</a:t>
                      </a:r>
                      <a:r>
                        <a:rPr lang="en-US" dirty="0"/>
                        <a:t>(): "Odin Owns You All!"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1" dirty="0"/>
                        <a:t>⚔️ War (Game Controller)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• Manages </a:t>
                      </a:r>
                      <a:r>
                        <a:rPr lang="en-US" dirty="0" err="1"/>
                        <a:t>vikingArmy</a:t>
                      </a:r>
                      <a:r>
                        <a:rPr lang="en-US" dirty="0"/>
                        <a:t> &amp; </a:t>
                      </a:r>
                      <a:r>
                        <a:rPr lang="en-US" dirty="0" err="1"/>
                        <a:t>saxonArmy</a:t>
                      </a:r>
                      <a:endParaRPr lang="en-US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• Handles attacks &amp; battle logic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/>
                        <a:t>• Determines war status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215376"/>
                  </a:ext>
                </a:extLst>
              </a:tr>
            </a:tbl>
          </a:graphicData>
        </a:graphic>
      </p:graphicFrame>
      <p:sp>
        <p:nvSpPr>
          <p:cNvPr id="11" name="標題 10">
            <a:extLst>
              <a:ext uri="{FF2B5EF4-FFF2-40B4-BE49-F238E27FC236}">
                <a16:creationId xmlns:a16="http://schemas.microsoft.com/office/drawing/2014/main" id="{444755EE-664D-3FB6-52F5-9B0AB2087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68" y="653143"/>
            <a:ext cx="9778365" cy="597068"/>
          </a:xfrm>
        </p:spPr>
        <p:txBody>
          <a:bodyPr/>
          <a:lstStyle/>
          <a:p>
            <a:r>
              <a:rPr lang="en-US" dirty="0"/>
              <a:t>Game Architecture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0894A93-A43A-A165-E9F6-1C97A9C2A568}"/>
              </a:ext>
            </a:extLst>
          </p:cNvPr>
          <p:cNvSpPr txBox="1"/>
          <p:nvPr/>
        </p:nvSpPr>
        <p:spPr>
          <a:xfrm>
            <a:off x="4633427" y="1530130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Key Design Pattern:</a:t>
            </a:r>
            <a:r>
              <a:rPr lang="en-US" b="0" dirty="0">
                <a:solidFill>
                  <a:schemeClr val="bg1"/>
                </a:solidFill>
              </a:rPr>
              <a:t> Inheritance</a:t>
            </a: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127" y="483895"/>
            <a:ext cx="10972800" cy="569076"/>
          </a:xfrm>
        </p:spPr>
        <p:txBody>
          <a:bodyPr/>
          <a:lstStyle/>
          <a:p>
            <a:r>
              <a:rPr lang="en-US" dirty="0"/>
              <a:t>Game Mechanics &amp; Flow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E198AA-251D-4446-30C4-8F2FA7F6A72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269136" y="1540225"/>
            <a:ext cx="7952791" cy="1574317"/>
          </a:xfrm>
        </p:spPr>
        <p:txBody>
          <a:bodyPr/>
          <a:lstStyle/>
          <a:p>
            <a:r>
              <a:rPr lang="en-US" b="1" dirty="0"/>
              <a:t>Example Battle:</a:t>
            </a:r>
            <a:r>
              <a:rPr lang="en-US" dirty="0"/>
              <a:t> 20 Vikings vs 20 Saxons</a:t>
            </a:r>
            <a:br>
              <a:rPr lang="en-US" dirty="0"/>
            </a:br>
            <a:r>
              <a:rPr lang="en-US" dirty="0"/>
              <a:t>Random strength: 50-100 points | Starting health: 100 points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1459C39-A019-7389-03CB-ED6990D16E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99214"/>
              </p:ext>
            </p:extLst>
          </p:nvPr>
        </p:nvGraphicFramePr>
        <p:xfrm>
          <a:off x="1595534" y="2327384"/>
          <a:ext cx="9199255" cy="9144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839851">
                  <a:extLst>
                    <a:ext uri="{9D8B030D-6E8A-4147-A177-3AD203B41FA5}">
                      <a16:colId xmlns:a16="http://schemas.microsoft.com/office/drawing/2014/main" val="2418375027"/>
                    </a:ext>
                  </a:extLst>
                </a:gridCol>
                <a:gridCol w="1839851">
                  <a:extLst>
                    <a:ext uri="{9D8B030D-6E8A-4147-A177-3AD203B41FA5}">
                      <a16:colId xmlns:a16="http://schemas.microsoft.com/office/drawing/2014/main" val="3523128591"/>
                    </a:ext>
                  </a:extLst>
                </a:gridCol>
                <a:gridCol w="1839851">
                  <a:extLst>
                    <a:ext uri="{9D8B030D-6E8A-4147-A177-3AD203B41FA5}">
                      <a16:colId xmlns:a16="http://schemas.microsoft.com/office/drawing/2014/main" val="3017570252"/>
                    </a:ext>
                  </a:extLst>
                </a:gridCol>
                <a:gridCol w="1839851">
                  <a:extLst>
                    <a:ext uri="{9D8B030D-6E8A-4147-A177-3AD203B41FA5}">
                      <a16:colId xmlns:a16="http://schemas.microsoft.com/office/drawing/2014/main" val="3766009481"/>
                    </a:ext>
                  </a:extLst>
                </a:gridCol>
                <a:gridCol w="1839851">
                  <a:extLst>
                    <a:ext uri="{9D8B030D-6E8A-4147-A177-3AD203B41FA5}">
                      <a16:colId xmlns:a16="http://schemas.microsoft.com/office/drawing/2014/main" val="3946285442"/>
                    </a:ext>
                  </a:extLst>
                </a:gridCol>
              </a:tblGrid>
              <a:tr h="563899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  <a:p>
                      <a:r>
                        <a:rPr lang="en-US" dirty="0"/>
                        <a:t>Army</a:t>
                      </a:r>
                      <a:br>
                        <a:rPr lang="en-US" dirty="0"/>
                      </a:br>
                      <a:r>
                        <a:rPr lang="en-US" dirty="0"/>
                        <a:t>Creation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  <a:p>
                      <a:r>
                        <a:rPr lang="en-US" dirty="0"/>
                        <a:t>Viking</a:t>
                      </a:r>
                      <a:br>
                        <a:rPr lang="en-US" dirty="0"/>
                      </a:br>
                      <a:r>
                        <a:rPr lang="en-US" dirty="0"/>
                        <a:t>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  <a:p>
                      <a:r>
                        <a:rPr lang="en-US" dirty="0"/>
                        <a:t>Status</a:t>
                      </a:r>
                      <a:br>
                        <a:rPr lang="en-US" dirty="0"/>
                      </a:br>
                      <a:r>
                        <a:rPr lang="en-US" dirty="0"/>
                        <a:t>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  <a:p>
                      <a:r>
                        <a:rPr lang="en-US" dirty="0"/>
                        <a:t>Saxon</a:t>
                      </a:r>
                      <a:br>
                        <a:rPr lang="en-US" dirty="0"/>
                      </a:br>
                      <a:r>
                        <a:rPr lang="en-US" dirty="0"/>
                        <a:t>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  <a:p>
                      <a:r>
                        <a:rPr lang="en-US" dirty="0"/>
                        <a:t>Round</a:t>
                      </a:r>
                      <a:br>
                        <a:rPr lang="en-US" dirty="0"/>
                      </a:br>
                      <a:r>
                        <a:rPr lang="en-US" dirty="0"/>
                        <a:t>Summary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523030"/>
                  </a:ext>
                </a:extLst>
              </a:tr>
            </a:tbl>
          </a:graphicData>
        </a:graphic>
      </p:graphicFrame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048199A-2E77-BFE8-8E88-CAD813B6491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68003" y="3429000"/>
            <a:ext cx="9051471" cy="40075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🎲 Battle Mechanics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Random Selection:</a:t>
            </a:r>
            <a:r>
              <a:rPr lang="en-US" sz="2400" dirty="0"/>
              <a:t> Each attack randomly chooses attacker and defender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Dynamic Health:</a:t>
            </a:r>
            <a:r>
              <a:rPr lang="en-US" sz="2400" dirty="0"/>
              <a:t> Warriors are removed when health ≤ 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Battle Messages:</a:t>
            </a:r>
            <a:r>
              <a:rPr lang="en-US" sz="2400" dirty="0"/>
              <a:t> Different messages for Vikings vs Saxons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Win Conditions:</a:t>
            </a:r>
            <a:r>
              <a:rPr lang="en-US" sz="2400" dirty="0"/>
              <a:t> War ends when one army is completely defeated</a:t>
            </a:r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C37B8-26D9-A70B-5FEE-178E6B0D8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35D0A-648A-F569-A3EF-44E8C7375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9835" y="757101"/>
            <a:ext cx="5892165" cy="3291840"/>
          </a:xfrm>
        </p:spPr>
        <p:txBody>
          <a:bodyPr/>
          <a:lstStyle/>
          <a:p>
            <a:r>
              <a:rPr lang="en-US" dirty="0"/>
              <a:t>Testing &amp; Implementation</a:t>
            </a:r>
            <a:br>
              <a:rPr lang="en-US" dirty="0"/>
            </a:br>
            <a:endParaRPr lang="en-US" dirty="0"/>
          </a:p>
        </p:txBody>
      </p:sp>
      <p:pic>
        <p:nvPicPr>
          <p:cNvPr id="12" name="Picture Placeholder 4" descr="A close-up of a wood grain">
            <a:extLst>
              <a:ext uri="{FF2B5EF4-FFF2-40B4-BE49-F238E27FC236}">
                <a16:creationId xmlns:a16="http://schemas.microsoft.com/office/drawing/2014/main" id="{38F6D602-C41A-AEE9-3F05-ECD9019CBE91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1113"/>
            <a:ext cx="6096000" cy="6880226"/>
          </a:xfr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6A2CBA14-54A5-7CCF-211F-52CF0CBDCA9F}"/>
              </a:ext>
            </a:extLst>
          </p:cNvPr>
          <p:cNvSpPr txBox="1"/>
          <p:nvPr/>
        </p:nvSpPr>
        <p:spPr>
          <a:xfrm>
            <a:off x="-74645" y="1997840"/>
            <a:ext cx="680201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dirty="0"/>
          </a:p>
          <a:p>
            <a:r>
              <a:rPr lang="en-US" sz="2000" dirty="0"/>
              <a:t>  run_all_tests.py</a:t>
            </a:r>
          </a:p>
          <a:p>
            <a:r>
              <a:rPr lang="en-US" sz="2000" dirty="0"/>
              <a:t>        </a:t>
            </a:r>
          </a:p>
          <a:p>
            <a:r>
              <a:rPr lang="en-US" sz="2000" dirty="0"/>
              <a:t>         ├──► Run 1-testsSoldier.py ──► Get results</a:t>
            </a:r>
          </a:p>
          <a:p>
            <a:r>
              <a:rPr lang="en-US" sz="2000" dirty="0"/>
              <a:t>         ├──► Run 2-testsVikings.py ──► Get results  </a:t>
            </a:r>
          </a:p>
          <a:p>
            <a:r>
              <a:rPr lang="en-US" sz="2000" dirty="0"/>
              <a:t>         ├──► Run 3-testsSaxons.py  ──► Get results</a:t>
            </a:r>
          </a:p>
          <a:p>
            <a:r>
              <a:rPr lang="en-US" sz="2000" dirty="0"/>
              <a:t>         └──► Run 4-testsWar.py     ──► Get results</a:t>
            </a:r>
          </a:p>
          <a:p>
            <a:r>
              <a:rPr lang="en-US" sz="2000" dirty="0"/>
              <a:t>                                           </a:t>
            </a:r>
          </a:p>
          <a:p>
            <a:r>
              <a:rPr lang="en-US" sz="2000" dirty="0"/>
              <a:t>                                           └──► Shows summary</a:t>
            </a:r>
          </a:p>
        </p:txBody>
      </p:sp>
    </p:spTree>
    <p:extLst>
      <p:ext uri="{BB962C8B-B14F-4D97-AF65-F5344CB8AC3E}">
        <p14:creationId xmlns:p14="http://schemas.microsoft.com/office/powerpoint/2010/main" val="342787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D29B5-1B58-809F-FEA7-B82105E9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8371" y="104479"/>
            <a:ext cx="4373996" cy="1920078"/>
          </a:xfrm>
        </p:spPr>
        <p:txBody>
          <a:bodyPr/>
          <a:lstStyle/>
          <a:p>
            <a:r>
              <a:rPr lang="en-US" dirty="0"/>
              <a:t>Testing &amp; Implementation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C10F34A-D79C-97DE-4540-99C8EC10C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598210"/>
              </p:ext>
            </p:extLst>
          </p:nvPr>
        </p:nvGraphicFramePr>
        <p:xfrm>
          <a:off x="473788" y="1027576"/>
          <a:ext cx="4961731" cy="53172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961731">
                  <a:extLst>
                    <a:ext uri="{9D8B030D-6E8A-4147-A177-3AD203B41FA5}">
                      <a16:colId xmlns:a16="http://schemas.microsoft.com/office/drawing/2014/main" val="270534243"/>
                    </a:ext>
                  </a:extLst>
                </a:gridCol>
              </a:tblGrid>
              <a:tr h="26586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1" dirty="0"/>
                        <a:t>🔍 Automated Testing Suite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1" dirty="0"/>
                        <a:t>1-testsSoldier.py:</a:t>
                      </a:r>
                      <a:r>
                        <a:rPr lang="en-US" dirty="0"/>
                        <a:t> Base class functionality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1" dirty="0"/>
                        <a:t>2-testsVikings.py:</a:t>
                      </a:r>
                      <a:r>
                        <a:rPr lang="en-US" dirty="0"/>
                        <a:t> Viking-specific features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1" dirty="0"/>
                        <a:t>3-testsSaxons.py:</a:t>
                      </a:r>
                      <a:r>
                        <a:rPr lang="en-US" dirty="0"/>
                        <a:t> Saxon-specific features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1" dirty="0"/>
                        <a:t>4-testsWar.py:</a:t>
                      </a:r>
                      <a:r>
                        <a:rPr lang="en-US" dirty="0"/>
                        <a:t> War game mechanics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752618"/>
                  </a:ext>
                </a:extLst>
              </a:tr>
              <a:tr h="26586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⚡</a:t>
                      </a:r>
                      <a:r>
                        <a:rPr lang="en-US" b="1" dirty="0"/>
                        <a:t>Test Runner Features:</a:t>
                      </a:r>
                      <a:br>
                        <a:rPr lang="en-US" dirty="0"/>
                      </a:br>
                      <a:r>
                        <a:rPr lang="en-US" dirty="0"/>
                        <a:t>• Subprocess execution</a:t>
                      </a:r>
                      <a:br>
                        <a:rPr lang="en-US" dirty="0"/>
                      </a:br>
                      <a:r>
                        <a:rPr lang="en-US" dirty="0"/>
                        <a:t>• Return code validation</a:t>
                      </a:r>
                      <a:br>
                        <a:rPr lang="en-US" dirty="0"/>
                      </a:br>
                      <a:r>
                        <a:rPr lang="en-US" dirty="0"/>
                        <a:t>• Detailed error reporting</a:t>
                      </a:r>
                      <a:br>
                        <a:rPr lang="en-US" dirty="0"/>
                      </a:br>
                      <a:r>
                        <a:rPr lang="en-US" dirty="0"/>
                        <a:t>• Summary statistics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0452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49D8FAE-6369-34D0-EB2C-EA7D0BDEAF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832735"/>
              </p:ext>
            </p:extLst>
          </p:nvPr>
        </p:nvGraphicFramePr>
        <p:xfrm>
          <a:off x="5900057" y="1733465"/>
          <a:ext cx="5959151" cy="4820369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959151">
                  <a:extLst>
                    <a:ext uri="{9D8B030D-6E8A-4147-A177-3AD203B41FA5}">
                      <a16:colId xmlns:a16="http://schemas.microsoft.com/office/drawing/2014/main" val="234966646"/>
                    </a:ext>
                  </a:extLst>
                </a:gridCol>
              </a:tblGrid>
              <a:tr h="231034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b="1" dirty="0"/>
                        <a:t>🎯 Key Features Implemented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Inheritance:</a:t>
                      </a:r>
                      <a:r>
                        <a:rPr lang="en-US" dirty="0"/>
                        <a:t> Viking &amp; Saxon extend Soldier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Polymorphism:</a:t>
                      </a:r>
                      <a:r>
                        <a:rPr lang="en-US" dirty="0"/>
                        <a:t> Method overriding for </a:t>
                      </a:r>
                      <a:r>
                        <a:rPr lang="en-US" dirty="0" err="1"/>
                        <a:t>receiveDamage</a:t>
                      </a:r>
                      <a:r>
                        <a:rPr lang="en-US" dirty="0"/>
                        <a:t>()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Encapsulation:</a:t>
                      </a:r>
                      <a:r>
                        <a:rPr lang="en-US" dirty="0"/>
                        <a:t> Class-based army management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b="1" dirty="0"/>
                        <a:t>Random Events:</a:t>
                      </a:r>
                      <a:r>
                        <a:rPr lang="en-US" dirty="0"/>
                        <a:t> Unpredictable battle outcomes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631360"/>
                  </a:ext>
                </a:extLst>
              </a:tr>
              <a:tr h="23103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🏆 Project Success Criteria:</a:t>
                      </a:r>
                      <a:br>
                        <a:rPr lang="en-US" dirty="0"/>
                      </a:br>
                      <a:r>
                        <a:rPr lang="en-US" dirty="0"/>
                        <a:t>✅ All tests pass</a:t>
                      </a:r>
                      <a:br>
                        <a:rPr lang="en-US" dirty="0"/>
                      </a:br>
                      <a:r>
                        <a:rPr lang="en-US" dirty="0"/>
                        <a:t>✅ Working simulation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443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806CC7A4-D99A-96F4-20CA-E86495520C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{C27FE001-C50A-415F-AABF-DDCF1B8847F0}TFd3b75063-ff25-434d-b12c-efeaf07d16c3292f62b5_win32-75a75c970d8e</Template>
  <TotalTime>147</TotalTime>
  <Words>376</Words>
  <Application>Microsoft Office PowerPoint</Application>
  <PresentationFormat>寬螢幕</PresentationFormat>
  <Paragraphs>72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Arial</vt:lpstr>
      <vt:lpstr>Calibri</vt:lpstr>
      <vt:lpstr>Franklin Gothic Book</vt:lpstr>
      <vt:lpstr>Franklin Gothic Demi</vt:lpstr>
      <vt:lpstr>Custom</vt:lpstr>
      <vt:lpstr>Vikings vs Saxons War Game ⚔️ Object-Oriented Programming Battle Simulation</vt:lpstr>
      <vt:lpstr>Agenda</vt:lpstr>
      <vt:lpstr>Game Architecture</vt:lpstr>
      <vt:lpstr>Game Mechanics &amp; Flow</vt:lpstr>
      <vt:lpstr>Testing &amp; Implementation </vt:lpstr>
      <vt:lpstr>Testing &amp; Implementation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Wai Lung Tang (wtang)</dc:creator>
  <cp:lastModifiedBy>Wai Lung Tang (wtang)</cp:lastModifiedBy>
  <cp:revision>6</cp:revision>
  <dcterms:created xsi:type="dcterms:W3CDTF">2025-07-15T13:56:59Z</dcterms:created>
  <dcterms:modified xsi:type="dcterms:W3CDTF">2025-07-15T19:10:40Z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