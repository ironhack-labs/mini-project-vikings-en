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8" d="100"/>
          <a:sy n="108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DD7AF-898B-4232-703D-2E1D19D9F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32BFA-2AA2-4997-BC00-CD92E7E0D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23634-4F2C-48DF-DA95-053DF34BF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47514-C048-3FD4-6739-293E25A5A2F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3340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CE22238-F563-4EE6-B1EE-248B8EB731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F6F73"/>
          </a:solidFill>
          <a:ln w="0">
            <a:solidFill>
              <a:srgbClr val="2F6F73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AF913-1025-42BD-A66C-617D09EE6DA7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5F3A"/>
                </a:solidFill>
                <a:latin typeface="Aptos"/>
                <a:ea typeface="Aptos"/>
                <a:cs typeface="Aptos"/>
              </a:rPr>
              <a:t>Python OOP Homework Presentation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846847-0B7F-4496-844E-CA23C9936BC4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6858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Vikings OOP</a:t>
            </a:r>
          </a:p>
          <a:p>
            <a:pPr algn="l">
              <a:defRPr sz="40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Mini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74EA8-C729-406D-8AD7-460C009484FB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685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A short presentation about the historical background, the class design, and what I learned from the project.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0D2CCD5-F92C-43E4-A937-25F561192CB7}"/>
              </a:ext>
            </a:extLst>
          </p:cNvPr>
          <p:cNvSpPr>
            <a:spLocks noGrp="1"/>
          </p:cNvSpPr>
          <p:nvPr/>
        </p:nvSpPr>
        <p:spPr>
          <a:xfrm>
            <a:off x="7858125" y="1219200"/>
            <a:ext cx="3048000" cy="3505200"/>
          </a:xfrm>
          <a:prstGeom prst="roundRect">
            <a:avLst>
              <a:gd name="adj" fmla="val 2500"/>
            </a:avLst>
          </a:prstGeom>
          <a:solidFill>
            <a:srgbClr val="E6F0EF"/>
          </a:solidFill>
          <a:ln w="9525">
            <a:solidFill>
              <a:srgbClr val="E6F0E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F4C6F4-8B09-4EC7-8D99-6D3BA052C72B}"/>
              </a:ext>
            </a:extLst>
          </p:cNvPr>
          <p:cNvSpPr>
            <a:spLocks noGrp="1"/>
          </p:cNvSpPr>
          <p:nvPr/>
        </p:nvSpPr>
        <p:spPr>
          <a:xfrm>
            <a:off x="8286750" y="16192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73"/>
                </a:solidFill>
                <a:latin typeface="Aptos"/>
                <a:ea typeface="Aptos"/>
                <a:cs typeface="Aptos"/>
              </a:rPr>
              <a:t>Agenda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D4F6AA-5174-459F-9AB9-A29C40B317C8}"/>
              </a:ext>
            </a:extLst>
          </p:cNvPr>
          <p:cNvSpPr>
            <a:spLocks noGrp="1"/>
          </p:cNvSpPr>
          <p:nvPr/>
        </p:nvSpPr>
        <p:spPr>
          <a:xfrm>
            <a:off x="8286750" y="2238375"/>
            <a:ext cx="85725" cy="85725"/>
          </a:xfrm>
          <a:prstGeom prst="ellipse">
            <a:avLst/>
          </a:prstGeom>
          <a:solidFill>
            <a:srgbClr val="B45F3A"/>
          </a:solidFill>
          <a:ln w="0">
            <a:solidFill>
              <a:srgbClr val="B45F3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849026-09CF-4259-8491-4F77EE26C3EE}"/>
              </a:ext>
            </a:extLst>
          </p:cNvPr>
          <p:cNvSpPr>
            <a:spLocks noGrp="1"/>
          </p:cNvSpPr>
          <p:nvPr/>
        </p:nvSpPr>
        <p:spPr>
          <a:xfrm>
            <a:off x="8515350" y="2152650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Historical background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5EE087-B365-40E2-87CC-350AA2BB692F}"/>
              </a:ext>
            </a:extLst>
          </p:cNvPr>
          <p:cNvSpPr>
            <a:spLocks noGrp="1"/>
          </p:cNvSpPr>
          <p:nvPr/>
        </p:nvSpPr>
        <p:spPr>
          <a:xfrm>
            <a:off x="8286750" y="2867025"/>
            <a:ext cx="85725" cy="85725"/>
          </a:xfrm>
          <a:prstGeom prst="ellipse">
            <a:avLst/>
          </a:prstGeom>
          <a:solidFill>
            <a:srgbClr val="2F6F73"/>
          </a:solidFill>
          <a:ln w="0">
            <a:solidFill>
              <a:srgbClr val="2F6F73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854BC8-CF54-4321-9548-37F6F631875B}"/>
              </a:ext>
            </a:extLst>
          </p:cNvPr>
          <p:cNvSpPr>
            <a:spLocks noGrp="1"/>
          </p:cNvSpPr>
          <p:nvPr/>
        </p:nvSpPr>
        <p:spPr>
          <a:xfrm>
            <a:off x="8515350" y="2781300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Class relationships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43B3C1-67E5-47B2-9828-547FE95BB027}"/>
              </a:ext>
            </a:extLst>
          </p:cNvPr>
          <p:cNvSpPr>
            <a:spLocks noGrp="1"/>
          </p:cNvSpPr>
          <p:nvPr/>
        </p:nvSpPr>
        <p:spPr>
          <a:xfrm>
            <a:off x="8286750" y="3495675"/>
            <a:ext cx="85725" cy="85725"/>
          </a:xfrm>
          <a:prstGeom prst="ellipse">
            <a:avLst/>
          </a:prstGeom>
          <a:solidFill>
            <a:srgbClr val="2F6F73"/>
          </a:solidFill>
          <a:ln w="0">
            <a:solidFill>
              <a:srgbClr val="2F6F7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30E8B-0EFC-42FB-B80C-B9C9E5AEB12D}"/>
              </a:ext>
            </a:extLst>
          </p:cNvPr>
          <p:cNvSpPr>
            <a:spLocks noGrp="1"/>
          </p:cNvSpPr>
          <p:nvPr/>
        </p:nvSpPr>
        <p:spPr>
          <a:xfrm>
            <a:off x="8515350" y="3409950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OOP concepts learned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4AADA30-95C2-4286-8B8E-3C6E88E7596C}"/>
              </a:ext>
            </a:extLst>
          </p:cNvPr>
          <p:cNvSpPr>
            <a:spLocks noGrp="1"/>
          </p:cNvSpPr>
          <p:nvPr/>
        </p:nvSpPr>
        <p:spPr>
          <a:xfrm>
            <a:off x="8286750" y="4124325"/>
            <a:ext cx="85725" cy="85725"/>
          </a:xfrm>
          <a:prstGeom prst="ellipse">
            <a:avLst/>
          </a:prstGeom>
          <a:solidFill>
            <a:srgbClr val="2F6F73"/>
          </a:solidFill>
          <a:ln w="0">
            <a:solidFill>
              <a:srgbClr val="2F6F73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2D8199-58F4-4DA9-B22B-6B91AE0A2933}"/>
              </a:ext>
            </a:extLst>
          </p:cNvPr>
          <p:cNvSpPr>
            <a:spLocks noGrp="1"/>
          </p:cNvSpPr>
          <p:nvPr/>
        </p:nvSpPr>
        <p:spPr>
          <a:xfrm>
            <a:off x="8515350" y="4038600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Challenges and results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A639A0-B316-4010-A749-FDEAF909398E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endParaRPr sz="1500" b="1" dirty="0">
              <a:solidFill>
                <a:srgbClr val="2F6F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83B5EA-3A3F-474C-90D9-C6F1A8598E15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A74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746B"/>
                </a:solidFill>
                <a:latin typeface="Aptos"/>
                <a:ea typeface="Aptos"/>
                <a:cs typeface="Aptos"/>
              </a:rPr>
              <a:t>Vikings OOP Mini Project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C00A0B9-2D87-D41E-E9DE-3873625D6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390" y="4167187"/>
            <a:ext cx="4549297" cy="255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8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DB0DE79-DD04-4205-A609-D8D254951FD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F3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A97FAD-AC56-4D23-8680-0C6F85202C50}"/>
              </a:ext>
            </a:extLst>
          </p:cNvPr>
          <p:cNvSpPr>
            <a:spLocks noGrp="1"/>
          </p:cNvSpPr>
          <p:nvPr/>
        </p:nvSpPr>
        <p:spPr>
          <a:xfrm>
            <a:off x="1257300" y="3619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Historical Background: Vikings vs. Saxons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2B683E-E384-4221-AE81-5D4A7BDE9483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19050"/>
          </a:xfrm>
          <a:prstGeom prst="rect">
            <a:avLst/>
          </a:prstGeom>
          <a:solidFill>
            <a:srgbClr val="D7D2C8"/>
          </a:solidFill>
          <a:ln w="0">
            <a:solidFill>
              <a:srgbClr val="D7D2C8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E54E6D-2912-49AC-8557-D0E5EA79E9C1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The project is fictional, but it is inspired by a real historical conflict in early medieval England.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0B030-5839-4D96-B489-BAF073BC5A14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73"/>
                </a:solidFill>
                <a:latin typeface="Aptos"/>
                <a:ea typeface="Aptos"/>
                <a:cs typeface="Aptos"/>
              </a:rPr>
              <a:t>Late 700s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CB0CDB35-F69A-4000-989F-C073116AD884}"/>
              </a:ext>
            </a:extLst>
          </p:cNvPr>
          <p:cNvSpPr>
            <a:spLocks noGrp="1"/>
          </p:cNvSpPr>
          <p:nvPr/>
        </p:nvSpPr>
        <p:spPr>
          <a:xfrm>
            <a:off x="2667000" y="2247900"/>
            <a:ext cx="266700" cy="0"/>
          </a:xfrm>
          <a:prstGeom prst="line">
            <a:avLst/>
          </a:prstGeom>
          <a:ln w="28575">
            <a:solidFill>
              <a:srgbClr val="D7D2C8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EEB51F-A41C-46F6-8681-9B6149955358}"/>
              </a:ext>
            </a:extLst>
          </p:cNvPr>
          <p:cNvSpPr>
            <a:spLocks noGrp="1"/>
          </p:cNvSpPr>
          <p:nvPr/>
        </p:nvSpPr>
        <p:spPr>
          <a:xfrm>
            <a:off x="3143250" y="2162175"/>
            <a:ext cx="85725" cy="85725"/>
          </a:xfrm>
          <a:prstGeom prst="ellipse">
            <a:avLst/>
          </a:prstGeom>
          <a:solidFill>
            <a:srgbClr val="2F6F73"/>
          </a:solidFill>
          <a:ln w="0">
            <a:solidFill>
              <a:srgbClr val="2F6F73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E16EF3-8937-4770-BCAA-D0E4D553A3F3}"/>
              </a:ext>
            </a:extLst>
          </p:cNvPr>
          <p:cNvSpPr>
            <a:spLocks noGrp="1"/>
          </p:cNvSpPr>
          <p:nvPr/>
        </p:nvSpPr>
        <p:spPr>
          <a:xfrm>
            <a:off x="3371850" y="2076450"/>
            <a:ext cx="7105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Viking raids began along the coasts of Britain and Ireland.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A1F6AC-31A7-4CCC-8150-273E9A52D788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73"/>
                </a:solidFill>
                <a:latin typeface="Aptos"/>
                <a:ea typeface="Aptos"/>
                <a:cs typeface="Aptos"/>
              </a:rPr>
              <a:t>865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7844225-DF8B-4E72-9AEC-333FF3A4A007}"/>
              </a:ext>
            </a:extLst>
          </p:cNvPr>
          <p:cNvSpPr>
            <a:spLocks noGrp="1"/>
          </p:cNvSpPr>
          <p:nvPr/>
        </p:nvSpPr>
        <p:spPr>
          <a:xfrm>
            <a:off x="2667000" y="2895600"/>
            <a:ext cx="266700" cy="0"/>
          </a:xfrm>
          <a:prstGeom prst="line">
            <a:avLst/>
          </a:prstGeom>
          <a:ln w="28575">
            <a:solidFill>
              <a:srgbClr val="D7D2C8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8C957E6-674B-4532-ADEB-CCC5573825F9}"/>
              </a:ext>
            </a:extLst>
          </p:cNvPr>
          <p:cNvSpPr>
            <a:spLocks noGrp="1"/>
          </p:cNvSpPr>
          <p:nvPr/>
        </p:nvSpPr>
        <p:spPr>
          <a:xfrm>
            <a:off x="3143250" y="2809875"/>
            <a:ext cx="85725" cy="85725"/>
          </a:xfrm>
          <a:prstGeom prst="ellipse">
            <a:avLst/>
          </a:prstGeom>
          <a:solidFill>
            <a:srgbClr val="2F6F73"/>
          </a:solidFill>
          <a:ln w="0">
            <a:solidFill>
              <a:srgbClr val="2F6F7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768A1-41E4-43C6-BE67-3A435BCBE94E}"/>
              </a:ext>
            </a:extLst>
          </p:cNvPr>
          <p:cNvSpPr>
            <a:spLocks noGrp="1"/>
          </p:cNvSpPr>
          <p:nvPr/>
        </p:nvSpPr>
        <p:spPr>
          <a:xfrm>
            <a:off x="3371850" y="2724150"/>
            <a:ext cx="7105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 large Viking force, often called the Great Heathen Army, landed in East Anglia.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441202-D56E-4482-BDF5-D0E6BE3B6364}"/>
              </a:ext>
            </a:extLst>
          </p:cNvPr>
          <p:cNvSpPr>
            <a:spLocks noGrp="1"/>
          </p:cNvSpPr>
          <p:nvPr/>
        </p:nvSpPr>
        <p:spPr>
          <a:xfrm>
            <a:off x="914400" y="33909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73"/>
                </a:solidFill>
                <a:latin typeface="Aptos"/>
                <a:ea typeface="Aptos"/>
                <a:cs typeface="Aptos"/>
              </a:rPr>
              <a:t>867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3C95B73A-2737-48B6-8B57-597318C72C6B}"/>
              </a:ext>
            </a:extLst>
          </p:cNvPr>
          <p:cNvSpPr>
            <a:spLocks noGrp="1"/>
          </p:cNvSpPr>
          <p:nvPr/>
        </p:nvSpPr>
        <p:spPr>
          <a:xfrm>
            <a:off x="2667000" y="3543300"/>
            <a:ext cx="266700" cy="0"/>
          </a:xfrm>
          <a:prstGeom prst="line">
            <a:avLst/>
          </a:prstGeom>
          <a:ln w="28575">
            <a:solidFill>
              <a:srgbClr val="D7D2C8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9D344F8-3523-4BB3-BD79-C7F30382225F}"/>
              </a:ext>
            </a:extLst>
          </p:cNvPr>
          <p:cNvSpPr>
            <a:spLocks noGrp="1"/>
          </p:cNvSpPr>
          <p:nvPr/>
        </p:nvSpPr>
        <p:spPr>
          <a:xfrm>
            <a:off x="3143250" y="3457575"/>
            <a:ext cx="85725" cy="85725"/>
          </a:xfrm>
          <a:prstGeom prst="ellipse">
            <a:avLst/>
          </a:prstGeom>
          <a:solidFill>
            <a:srgbClr val="2F6F73"/>
          </a:solidFill>
          <a:ln w="0">
            <a:solidFill>
              <a:srgbClr val="2F6F73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551F25-968C-41FB-9C21-91B351F6FD5A}"/>
              </a:ext>
            </a:extLst>
          </p:cNvPr>
          <p:cNvSpPr>
            <a:spLocks noGrp="1"/>
          </p:cNvSpPr>
          <p:nvPr/>
        </p:nvSpPr>
        <p:spPr>
          <a:xfrm>
            <a:off x="3371850" y="3371850"/>
            <a:ext cx="7105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Vikings captured York, an important city in Northumbria.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AA83DB-5471-467A-9AF5-00EC9CF46C9C}"/>
              </a:ext>
            </a:extLst>
          </p:cNvPr>
          <p:cNvSpPr>
            <a:spLocks noGrp="1"/>
          </p:cNvSpPr>
          <p:nvPr/>
        </p:nvSpPr>
        <p:spPr>
          <a:xfrm>
            <a:off x="914400" y="40386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73"/>
                </a:solidFill>
                <a:latin typeface="Aptos"/>
                <a:ea typeface="Aptos"/>
                <a:cs typeface="Aptos"/>
              </a:rPr>
              <a:t>878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C6F9634-A94C-4B72-8F63-D81846D6360D}"/>
              </a:ext>
            </a:extLst>
          </p:cNvPr>
          <p:cNvSpPr>
            <a:spLocks noGrp="1"/>
          </p:cNvSpPr>
          <p:nvPr/>
        </p:nvSpPr>
        <p:spPr>
          <a:xfrm>
            <a:off x="2667000" y="4191000"/>
            <a:ext cx="266700" cy="0"/>
          </a:xfrm>
          <a:prstGeom prst="line">
            <a:avLst/>
          </a:prstGeom>
          <a:ln w="28575">
            <a:solidFill>
              <a:srgbClr val="D7D2C8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D1F77D1-06AE-42F2-8794-B4AE6C0CC6FA}"/>
              </a:ext>
            </a:extLst>
          </p:cNvPr>
          <p:cNvSpPr>
            <a:spLocks noGrp="1"/>
          </p:cNvSpPr>
          <p:nvPr/>
        </p:nvSpPr>
        <p:spPr>
          <a:xfrm>
            <a:off x="3143250" y="4105275"/>
            <a:ext cx="85725" cy="85725"/>
          </a:xfrm>
          <a:prstGeom prst="ellipse">
            <a:avLst/>
          </a:prstGeom>
          <a:solidFill>
            <a:srgbClr val="2F6F73"/>
          </a:solidFill>
          <a:ln w="0">
            <a:solidFill>
              <a:srgbClr val="2F6F73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CE9E3A-CBBC-46F6-9A21-5520436FB585}"/>
              </a:ext>
            </a:extLst>
          </p:cNvPr>
          <p:cNvSpPr>
            <a:spLocks noGrp="1"/>
          </p:cNvSpPr>
          <p:nvPr/>
        </p:nvSpPr>
        <p:spPr>
          <a:xfrm>
            <a:off x="3371850" y="4019550"/>
            <a:ext cx="7105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Alfred of Wessex defeated Guthrum at Edington, leading toward peace terms.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EA0BDF-E852-4B81-8BD8-924EBD34DB44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5F3A"/>
                </a:solidFill>
                <a:latin typeface="Aptos"/>
                <a:ea typeface="Aptos"/>
                <a:cs typeface="Aptos"/>
              </a:rPr>
              <a:t>Danelaw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FA5A12F9-F2EF-47A4-8CDC-F32F087B025F}"/>
              </a:ext>
            </a:extLst>
          </p:cNvPr>
          <p:cNvSpPr>
            <a:spLocks noGrp="1"/>
          </p:cNvSpPr>
          <p:nvPr/>
        </p:nvSpPr>
        <p:spPr>
          <a:xfrm>
            <a:off x="2667000" y="4838700"/>
            <a:ext cx="266700" cy="0"/>
          </a:xfrm>
          <a:prstGeom prst="line">
            <a:avLst/>
          </a:prstGeom>
          <a:ln w="28575">
            <a:solidFill>
              <a:srgbClr val="D7D2C8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8A2D02E-EA04-431E-B417-3FC0B92105C8}"/>
              </a:ext>
            </a:extLst>
          </p:cNvPr>
          <p:cNvSpPr>
            <a:spLocks noGrp="1"/>
          </p:cNvSpPr>
          <p:nvPr/>
        </p:nvSpPr>
        <p:spPr>
          <a:xfrm>
            <a:off x="3143250" y="4752975"/>
            <a:ext cx="85725" cy="85725"/>
          </a:xfrm>
          <a:prstGeom prst="ellipse">
            <a:avLst/>
          </a:prstGeom>
          <a:solidFill>
            <a:srgbClr val="B45F3A"/>
          </a:solidFill>
          <a:ln w="0">
            <a:solidFill>
              <a:srgbClr val="B45F3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EACF5C-E50C-4459-840A-847E63239F21}"/>
              </a:ext>
            </a:extLst>
          </p:cNvPr>
          <p:cNvSpPr>
            <a:spLocks noGrp="1"/>
          </p:cNvSpPr>
          <p:nvPr/>
        </p:nvSpPr>
        <p:spPr>
          <a:xfrm>
            <a:off x="3371850" y="4667250"/>
            <a:ext cx="7105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Northern and eastern England came under strong Scandinavian legal and political influence.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15F9913-96AE-4748-94D2-A4B5F5BFD121}"/>
              </a:ext>
            </a:extLst>
          </p:cNvPr>
          <p:cNvSpPr>
            <a:spLocks noGrp="1"/>
          </p:cNvSpPr>
          <p:nvPr/>
        </p:nvSpPr>
        <p:spPr>
          <a:xfrm>
            <a:off x="8126212" y="5070351"/>
            <a:ext cx="2930926" cy="1327397"/>
          </a:xfrm>
          <a:prstGeom prst="roundRect">
            <a:avLst>
              <a:gd name="adj" fmla="val 8696"/>
            </a:avLst>
          </a:prstGeom>
          <a:solidFill>
            <a:srgbClr val="F4E7DF"/>
          </a:solidFill>
          <a:ln w="9525">
            <a:solidFill>
              <a:srgbClr val="F4E7DF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375CF2-F794-4763-9688-54AC349A5BAA}"/>
              </a:ext>
            </a:extLst>
          </p:cNvPr>
          <p:cNvSpPr>
            <a:spLocks noGrp="1"/>
          </p:cNvSpPr>
          <p:nvPr/>
        </p:nvSpPr>
        <p:spPr>
          <a:xfrm>
            <a:off x="8496300" y="51054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B45F3A"/>
                </a:solidFill>
                <a:latin typeface="Aptos"/>
                <a:ea typeface="Aptos"/>
                <a:cs typeface="Aptos"/>
              </a:rPr>
              <a:t>Why it matters here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8B75CD-0084-476D-AE8C-28709B7C54A5}"/>
              </a:ext>
            </a:extLst>
          </p:cNvPr>
          <p:cNvSpPr>
            <a:spLocks noGrp="1"/>
          </p:cNvSpPr>
          <p:nvPr/>
        </p:nvSpPr>
        <p:spPr>
          <a:xfrm>
            <a:off x="8477250" y="5410200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The code turns a large historical conflict into small objects and methods.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66C979-1270-4BC2-B709-1E770323AD6E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A74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746B"/>
                </a:solidFill>
                <a:latin typeface="Aptos"/>
                <a:ea typeface="Aptos"/>
                <a:cs typeface="Aptos"/>
              </a:rPr>
              <a:t>Sources: Great Heathen Army, Danelaw, Treaty of Alfred and Guthrum</a:t>
            </a:r>
          </a:p>
        </p:txBody>
      </p:sp>
    </p:spTree>
    <p:extLst>
      <p:ext uri="{BB962C8B-B14F-4D97-AF65-F5344CB8AC3E}">
        <p14:creationId xmlns:p14="http://schemas.microsoft.com/office/powerpoint/2010/main" val="54997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044D016-21C7-4D0D-81AD-97162698CC1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F3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3BCB59-2FD3-401F-9BEE-79206638E348}"/>
              </a:ext>
            </a:extLst>
          </p:cNvPr>
          <p:cNvSpPr>
            <a:spLocks noGrp="1"/>
          </p:cNvSpPr>
          <p:nvPr/>
        </p:nvSpPr>
        <p:spPr>
          <a:xfrm>
            <a:off x="1257300" y="3619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From History to Python Objects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2C41BB-05CA-4212-A7B7-CCEC61767128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19050"/>
          </a:xfrm>
          <a:prstGeom prst="rect">
            <a:avLst/>
          </a:prstGeom>
          <a:solidFill>
            <a:srgbClr val="D7D2C8"/>
          </a:solidFill>
          <a:ln w="0">
            <a:solidFill>
              <a:srgbClr val="D7D2C8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A61C23-22B1-40B9-A9D4-09FBA75A6125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The assignment simplifies the historical setting into a small battle simulation. Each real-world idea becomes a class, an attribute, or a method.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EC017C-D332-4ECF-A331-8B6D69857101}"/>
              </a:ext>
            </a:extLst>
          </p:cNvPr>
          <p:cNvSpPr>
            <a:spLocks noGrp="1"/>
          </p:cNvSpPr>
          <p:nvPr/>
        </p:nvSpPr>
        <p:spPr>
          <a:xfrm>
            <a:off x="1238250" y="2238375"/>
            <a:ext cx="4095750" cy="514350"/>
          </a:xfrm>
          <a:prstGeom prst="roundRect">
            <a:avLst>
              <a:gd name="adj" fmla="val 14815"/>
            </a:avLst>
          </a:prstGeom>
          <a:solidFill>
            <a:srgbClr val="E6F0EF"/>
          </a:solidFill>
          <a:ln w="9525">
            <a:solidFill>
              <a:srgbClr val="E6F0EF"/>
            </a:solidFill>
            <a:prstDash val="solid"/>
          </a:ln>
        </p:spPr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9E51516-8147-4638-8C87-3C35A0CD3F7C}"/>
              </a:ext>
            </a:extLst>
          </p:cNvPr>
          <p:cNvSpPr>
            <a:spLocks noGrp="1"/>
          </p:cNvSpPr>
          <p:nvPr/>
        </p:nvSpPr>
        <p:spPr>
          <a:xfrm>
            <a:off x="6000750" y="223837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E6F0EF"/>
          </a:solidFill>
          <a:ln w="9525">
            <a:solidFill>
              <a:srgbClr val="E6F0E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25689C-DAFD-4029-BE3C-45C5148E0B26}"/>
              </a:ext>
            </a:extLst>
          </p:cNvPr>
          <p:cNvSpPr>
            <a:spLocks noGrp="1"/>
          </p:cNvSpPr>
          <p:nvPr/>
        </p:nvSpPr>
        <p:spPr>
          <a:xfrm>
            <a:off x="1466850" y="2381250"/>
            <a:ext cx="3638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73"/>
                </a:solidFill>
                <a:latin typeface="Aptos"/>
                <a:ea typeface="Aptos"/>
                <a:cs typeface="Aptos"/>
              </a:rPr>
              <a:t>Historical idea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3B7D2F-603A-4EF3-AD94-3E6FC24040D7}"/>
              </a:ext>
            </a:extLst>
          </p:cNvPr>
          <p:cNvSpPr>
            <a:spLocks noGrp="1"/>
          </p:cNvSpPr>
          <p:nvPr/>
        </p:nvSpPr>
        <p:spPr>
          <a:xfrm>
            <a:off x="6229350" y="2381250"/>
            <a:ext cx="449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73"/>
                </a:solidFill>
                <a:latin typeface="Aptos"/>
                <a:ea typeface="Aptos"/>
                <a:cs typeface="Aptos"/>
              </a:rPr>
              <a:t>Python design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EE1968B-491F-4053-8CE9-1D163886AB69}"/>
              </a:ext>
            </a:extLst>
          </p:cNvPr>
          <p:cNvSpPr>
            <a:spLocks noGrp="1"/>
          </p:cNvSpPr>
          <p:nvPr/>
        </p:nvSpPr>
        <p:spPr>
          <a:xfrm>
            <a:off x="1238250" y="2905125"/>
            <a:ext cx="4095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37144BB-363B-4E8D-97C5-6D0EE79FDF64}"/>
              </a:ext>
            </a:extLst>
          </p:cNvPr>
          <p:cNvSpPr>
            <a:spLocks noGrp="1"/>
          </p:cNvSpPr>
          <p:nvPr/>
        </p:nvSpPr>
        <p:spPr>
          <a:xfrm>
            <a:off x="6000750" y="290512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4DD149-A5B7-425F-9857-0064BB030B70}"/>
              </a:ext>
            </a:extLst>
          </p:cNvPr>
          <p:cNvSpPr>
            <a:spLocks noGrp="1"/>
          </p:cNvSpPr>
          <p:nvPr/>
        </p:nvSpPr>
        <p:spPr>
          <a:xfrm>
            <a:off x="1466850" y="3048000"/>
            <a:ext cx="3638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Individual warrior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8888D8-263C-4F54-9A99-ECD65A9F0D2E}"/>
              </a:ext>
            </a:extLst>
          </p:cNvPr>
          <p:cNvSpPr>
            <a:spLocks noGrp="1"/>
          </p:cNvSpPr>
          <p:nvPr/>
        </p:nvSpPr>
        <p:spPr>
          <a:xfrm>
            <a:off x="6229350" y="3048000"/>
            <a:ext cx="449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Soldier object with </a:t>
            </a:r>
            <a:r>
              <a:rPr lang="de-DE" sz="1350" b="0" dirty="0" err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attributes</a:t>
            </a:r>
            <a:r>
              <a:rPr lang="de-DE" sz="1350" b="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health and strength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3D4A3377-53A3-46AD-B5E6-BBA00F224E2C}"/>
              </a:ext>
            </a:extLst>
          </p:cNvPr>
          <p:cNvSpPr>
            <a:spLocks noGrp="1"/>
          </p:cNvSpPr>
          <p:nvPr/>
        </p:nvSpPr>
        <p:spPr>
          <a:xfrm>
            <a:off x="5429250" y="3162300"/>
            <a:ext cx="476250" cy="0"/>
          </a:xfrm>
          <a:prstGeom prst="line">
            <a:avLst/>
          </a:prstGeom>
          <a:ln w="19050">
            <a:solidFill>
              <a:srgbClr val="B45F3A"/>
            </a:solidFill>
            <a:prstDash val="solid"/>
          </a:ln>
        </p:spPr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8E0BAE9-E5CA-45EB-A9DE-17CD8BE53B36}"/>
              </a:ext>
            </a:extLst>
          </p:cNvPr>
          <p:cNvSpPr>
            <a:spLocks noGrp="1"/>
          </p:cNvSpPr>
          <p:nvPr/>
        </p:nvSpPr>
        <p:spPr>
          <a:xfrm>
            <a:off x="1238250" y="3571875"/>
            <a:ext cx="4095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EB0844D-8F9B-49EE-BF1F-B3C7E6A52665}"/>
              </a:ext>
            </a:extLst>
          </p:cNvPr>
          <p:cNvSpPr>
            <a:spLocks noGrp="1"/>
          </p:cNvSpPr>
          <p:nvPr/>
        </p:nvSpPr>
        <p:spPr>
          <a:xfrm>
            <a:off x="6000750" y="357187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C00232-F814-4F8F-9038-16B82C76A22D}"/>
              </a:ext>
            </a:extLst>
          </p:cNvPr>
          <p:cNvSpPr>
            <a:spLocks noGrp="1"/>
          </p:cNvSpPr>
          <p:nvPr/>
        </p:nvSpPr>
        <p:spPr>
          <a:xfrm>
            <a:off x="1466850" y="3714750"/>
            <a:ext cx="3638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Viking fighter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4B4439-7BE4-45F1-BF5E-0DE28FC16813}"/>
              </a:ext>
            </a:extLst>
          </p:cNvPr>
          <p:cNvSpPr>
            <a:spLocks noGrp="1"/>
          </p:cNvSpPr>
          <p:nvPr/>
        </p:nvSpPr>
        <p:spPr>
          <a:xfrm>
            <a:off x="6229350" y="3714750"/>
            <a:ext cx="449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Viking subclass with name and battleCry()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58B1883E-2DC6-487F-817D-C82BE1A57F5F}"/>
              </a:ext>
            </a:extLst>
          </p:cNvPr>
          <p:cNvSpPr>
            <a:spLocks noGrp="1"/>
          </p:cNvSpPr>
          <p:nvPr/>
        </p:nvSpPr>
        <p:spPr>
          <a:xfrm>
            <a:off x="5429250" y="3829050"/>
            <a:ext cx="476250" cy="0"/>
          </a:xfrm>
          <a:prstGeom prst="line">
            <a:avLst/>
          </a:prstGeom>
          <a:ln w="19050">
            <a:solidFill>
              <a:srgbClr val="B45F3A"/>
            </a:solidFill>
            <a:prstDash val="solid"/>
          </a:ln>
        </p:spPr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1F218EE-4037-4CF1-8AC9-C30AF38980F6}"/>
              </a:ext>
            </a:extLst>
          </p:cNvPr>
          <p:cNvSpPr>
            <a:spLocks noGrp="1"/>
          </p:cNvSpPr>
          <p:nvPr/>
        </p:nvSpPr>
        <p:spPr>
          <a:xfrm>
            <a:off x="1238250" y="4238625"/>
            <a:ext cx="4095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2EF5FAA-6138-4871-996A-82E16570DC69}"/>
              </a:ext>
            </a:extLst>
          </p:cNvPr>
          <p:cNvSpPr>
            <a:spLocks noGrp="1"/>
          </p:cNvSpPr>
          <p:nvPr/>
        </p:nvSpPr>
        <p:spPr>
          <a:xfrm>
            <a:off x="6000750" y="423862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B60BB7-4943-451B-81C7-EE5B489B28EA}"/>
              </a:ext>
            </a:extLst>
          </p:cNvPr>
          <p:cNvSpPr>
            <a:spLocks noGrp="1"/>
          </p:cNvSpPr>
          <p:nvPr/>
        </p:nvSpPr>
        <p:spPr>
          <a:xfrm>
            <a:off x="1466850" y="4381500"/>
            <a:ext cx="3638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Saxon fighter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4E6D6C-C0D1-4351-A659-445F5B358745}"/>
              </a:ext>
            </a:extLst>
          </p:cNvPr>
          <p:cNvSpPr>
            <a:spLocks noGrp="1"/>
          </p:cNvSpPr>
          <p:nvPr/>
        </p:nvSpPr>
        <p:spPr>
          <a:xfrm>
            <a:off x="6229350" y="4381500"/>
            <a:ext cx="449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Saxon subclass with its own damage message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40DAE849-C91C-47BD-8121-AC6265A6BB37}"/>
              </a:ext>
            </a:extLst>
          </p:cNvPr>
          <p:cNvSpPr>
            <a:spLocks noGrp="1"/>
          </p:cNvSpPr>
          <p:nvPr/>
        </p:nvSpPr>
        <p:spPr>
          <a:xfrm>
            <a:off x="5429250" y="4495800"/>
            <a:ext cx="476250" cy="0"/>
          </a:xfrm>
          <a:prstGeom prst="line">
            <a:avLst/>
          </a:prstGeom>
          <a:ln w="19050">
            <a:solidFill>
              <a:srgbClr val="B45F3A"/>
            </a:solidFill>
            <a:prstDash val="solid"/>
          </a:ln>
        </p:spPr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F24EE96-D26D-496B-B714-89B189D531B5}"/>
              </a:ext>
            </a:extLst>
          </p:cNvPr>
          <p:cNvSpPr>
            <a:spLocks noGrp="1"/>
          </p:cNvSpPr>
          <p:nvPr/>
        </p:nvSpPr>
        <p:spPr>
          <a:xfrm>
            <a:off x="1238250" y="4905375"/>
            <a:ext cx="4095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8DC84B2-5A45-4344-AB8D-8A1D53F908C3}"/>
              </a:ext>
            </a:extLst>
          </p:cNvPr>
          <p:cNvSpPr>
            <a:spLocks noGrp="1"/>
          </p:cNvSpPr>
          <p:nvPr/>
        </p:nvSpPr>
        <p:spPr>
          <a:xfrm>
            <a:off x="6000750" y="490537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86EA56-064B-46C0-8390-421211A3F205}"/>
              </a:ext>
            </a:extLst>
          </p:cNvPr>
          <p:cNvSpPr>
            <a:spLocks noGrp="1"/>
          </p:cNvSpPr>
          <p:nvPr/>
        </p:nvSpPr>
        <p:spPr>
          <a:xfrm>
            <a:off x="1466850" y="5048250"/>
            <a:ext cx="3638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Battle between two groups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09EC15-4474-4A8A-917A-DA69F2D9867F}"/>
              </a:ext>
            </a:extLst>
          </p:cNvPr>
          <p:cNvSpPr>
            <a:spLocks noGrp="1"/>
          </p:cNvSpPr>
          <p:nvPr/>
        </p:nvSpPr>
        <p:spPr>
          <a:xfrm>
            <a:off x="6229350" y="5048250"/>
            <a:ext cx="449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War object with two army lists and attack methods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658F4479-3D28-48FA-ABF3-B53E6B9ABE70}"/>
              </a:ext>
            </a:extLst>
          </p:cNvPr>
          <p:cNvSpPr>
            <a:spLocks noGrp="1"/>
          </p:cNvSpPr>
          <p:nvPr/>
        </p:nvSpPr>
        <p:spPr>
          <a:xfrm>
            <a:off x="5429250" y="5162550"/>
            <a:ext cx="476250" cy="0"/>
          </a:xfrm>
          <a:prstGeom prst="line">
            <a:avLst/>
          </a:prstGeom>
          <a:ln w="19050">
            <a:solidFill>
              <a:srgbClr val="B45F3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9E7C24-9DDB-4D17-B304-303A9ED685E2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A746B"/>
                </a:solidFill>
                <a:latin typeface="Aptos"/>
                <a:ea typeface="Aptos"/>
                <a:cs typeface="Aptos"/>
              </a:defRPr>
            </a:pPr>
            <a:r>
              <a:rPr sz="825" b="0" dirty="0">
                <a:solidFill>
                  <a:srgbClr val="7A746B"/>
                </a:solidFill>
                <a:latin typeface="Aptos"/>
                <a:ea typeface="Aptos"/>
                <a:cs typeface="Aptos"/>
              </a:rPr>
              <a:t>Vikings OOP Mini Project · </a:t>
            </a:r>
            <a:r>
              <a:rPr lang="de-DE" sz="825" b="0" dirty="0" err="1">
                <a:solidFill>
                  <a:srgbClr val="7A746B"/>
                </a:solidFill>
                <a:latin typeface="Aptos"/>
                <a:ea typeface="Aptos"/>
                <a:cs typeface="Aptos"/>
              </a:rPr>
              <a:t>about</a:t>
            </a:r>
            <a:r>
              <a:rPr lang="de-DE" sz="825" b="0" dirty="0">
                <a:solidFill>
                  <a:srgbClr val="7A746B"/>
                </a:solidFill>
                <a:latin typeface="Aptos"/>
                <a:ea typeface="Aptos"/>
                <a:cs typeface="Aptos"/>
              </a:rPr>
              <a:t> </a:t>
            </a:r>
            <a:r>
              <a:rPr sz="825" b="0" dirty="0">
                <a:solidFill>
                  <a:srgbClr val="7A746B"/>
                </a:solidFill>
                <a:latin typeface="Aptos"/>
                <a:ea typeface="Aptos"/>
                <a:cs typeface="Aptos"/>
              </a:rPr>
              <a:t>10 minutes</a:t>
            </a:r>
          </a:p>
        </p:txBody>
      </p:sp>
    </p:spTree>
    <p:extLst>
      <p:ext uri="{BB962C8B-B14F-4D97-AF65-F5344CB8AC3E}">
        <p14:creationId xmlns:p14="http://schemas.microsoft.com/office/powerpoint/2010/main" val="1459338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4B40E65-1E79-43EB-B493-277E8C0BDE2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F3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3B7832-CDCA-495C-A66D-4EBA79C9BD51}"/>
              </a:ext>
            </a:extLst>
          </p:cNvPr>
          <p:cNvSpPr>
            <a:spLocks noGrp="1"/>
          </p:cNvSpPr>
          <p:nvPr/>
        </p:nvSpPr>
        <p:spPr>
          <a:xfrm>
            <a:off x="1257300" y="3619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Class Relationships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7ED296-F57B-4B5F-B41E-55C75840385E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19050"/>
          </a:xfrm>
          <a:prstGeom prst="rect">
            <a:avLst/>
          </a:prstGeom>
          <a:solidFill>
            <a:srgbClr val="D7D2C8"/>
          </a:solidFill>
          <a:ln w="0">
            <a:solidFill>
              <a:srgbClr val="D7D2C8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27FFB7-6BFB-4A1F-81F2-72FA3891B3F6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There are two different relationships in the project: inheritance and composition.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34DCBA-FC26-4C9F-9F63-62D1EC161C74}"/>
              </a:ext>
            </a:extLst>
          </p:cNvPr>
          <p:cNvSpPr>
            <a:spLocks noGrp="1"/>
          </p:cNvSpPr>
          <p:nvPr/>
        </p:nvSpPr>
        <p:spPr>
          <a:xfrm>
            <a:off x="1485900" y="20383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73"/>
                </a:solidFill>
                <a:latin typeface="Aptos"/>
                <a:ea typeface="Aptos"/>
                <a:cs typeface="Aptos"/>
              </a:rPr>
              <a:t>Inheritance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3C60AD-7879-4B8F-B25D-614429FC6DE5}"/>
              </a:ext>
            </a:extLst>
          </p:cNvPr>
          <p:cNvSpPr>
            <a:spLocks noGrp="1"/>
          </p:cNvSpPr>
          <p:nvPr/>
        </p:nvSpPr>
        <p:spPr>
          <a:xfrm>
            <a:off x="1809750" y="2381250"/>
            <a:ext cx="2381250" cy="1428750"/>
          </a:xfrm>
          <a:prstGeom prst="roundRect">
            <a:avLst>
              <a:gd name="adj" fmla="val 5333"/>
            </a:avLst>
          </a:prstGeom>
          <a:solidFill>
            <a:srgbClr val="E6F0E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00A3F7-9490-4157-84F2-C165D93093AC}"/>
              </a:ext>
            </a:extLst>
          </p:cNvPr>
          <p:cNvSpPr>
            <a:spLocks noGrp="1"/>
          </p:cNvSpPr>
          <p:nvPr/>
        </p:nvSpPr>
        <p:spPr>
          <a:xfrm>
            <a:off x="2000250" y="25527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73"/>
                </a:solidFill>
                <a:latin typeface="Aptos"/>
                <a:ea typeface="Aptos"/>
                <a:cs typeface="Aptos"/>
              </a:rPr>
              <a:t>Soldier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642505-2496-4872-B2CD-5F02F0DA8524}"/>
              </a:ext>
            </a:extLst>
          </p:cNvPr>
          <p:cNvSpPr>
            <a:spLocks noGrp="1"/>
          </p:cNvSpPr>
          <p:nvPr/>
        </p:nvSpPr>
        <p:spPr>
          <a:xfrm>
            <a:off x="2038350" y="2952750"/>
            <a:ext cx="1924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health</a:t>
            </a:r>
          </a:p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strength</a:t>
            </a:r>
          </a:p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attack()</a:t>
            </a:r>
          </a:p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receiveDamage()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6108881C-7EF7-4138-AB93-9F20D87B2292}"/>
              </a:ext>
            </a:extLst>
          </p:cNvPr>
          <p:cNvSpPr>
            <a:spLocks noGrp="1"/>
          </p:cNvSpPr>
          <p:nvPr/>
        </p:nvSpPr>
        <p:spPr>
          <a:xfrm>
            <a:off x="3000375" y="3810000"/>
            <a:ext cx="0" cy="495300"/>
          </a:xfrm>
          <a:prstGeom prst="line">
            <a:avLst/>
          </a:prstGeom>
          <a:ln w="28575">
            <a:solidFill>
              <a:srgbClr val="D7D2C8"/>
            </a:solidFill>
            <a:prstDash val="solid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25E31AC-E375-4F08-B77C-975476C9C96F}"/>
              </a:ext>
            </a:extLst>
          </p:cNvPr>
          <p:cNvSpPr>
            <a:spLocks noGrp="1"/>
          </p:cNvSpPr>
          <p:nvPr/>
        </p:nvSpPr>
        <p:spPr>
          <a:xfrm>
            <a:off x="3000375" y="3810000"/>
            <a:ext cx="904875" cy="495300"/>
          </a:xfrm>
          <a:prstGeom prst="line">
            <a:avLst/>
          </a:prstGeom>
          <a:ln w="28575">
            <a:solidFill>
              <a:srgbClr val="D7D2C8"/>
            </a:solidFill>
            <a:prstDash val="solid"/>
          </a:ln>
        </p:spPr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F24C1C8-6F18-4BB3-BE87-520EDFBC7A5B}"/>
              </a:ext>
            </a:extLst>
          </p:cNvPr>
          <p:cNvSpPr>
            <a:spLocks noGrp="1"/>
          </p:cNvSpPr>
          <p:nvPr/>
        </p:nvSpPr>
        <p:spPr>
          <a:xfrm>
            <a:off x="857250" y="4305300"/>
            <a:ext cx="238125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98EA37-BFCB-477F-9654-CA74556F0594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5F3A"/>
                </a:solidFill>
                <a:latin typeface="Aptos"/>
                <a:ea typeface="Aptos"/>
                <a:cs typeface="Aptos"/>
              </a:rPr>
              <a:t>Viking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0DE611-F5F2-4351-AF68-69DD19F3CB6E}"/>
              </a:ext>
            </a:extLst>
          </p:cNvPr>
          <p:cNvSpPr>
            <a:spLocks noGrp="1"/>
          </p:cNvSpPr>
          <p:nvPr/>
        </p:nvSpPr>
        <p:spPr>
          <a:xfrm>
            <a:off x="1085850" y="4876800"/>
            <a:ext cx="1924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inherits Soldier</a:t>
            </a:r>
          </a:p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adds name</a:t>
            </a:r>
          </a:p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adds battleCry()</a:t>
            </a:r>
          </a:p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overrides damage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E2EC250-5C8F-4C6E-BFEA-1EA9CC92F46C}"/>
              </a:ext>
            </a:extLst>
          </p:cNvPr>
          <p:cNvSpPr>
            <a:spLocks noGrp="1"/>
          </p:cNvSpPr>
          <p:nvPr/>
        </p:nvSpPr>
        <p:spPr>
          <a:xfrm>
            <a:off x="3714750" y="4305300"/>
            <a:ext cx="238125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FA1531-8A87-4D5C-838B-43835DE9D0CF}"/>
              </a:ext>
            </a:extLst>
          </p:cNvPr>
          <p:cNvSpPr>
            <a:spLocks noGrp="1"/>
          </p:cNvSpPr>
          <p:nvPr/>
        </p:nvSpPr>
        <p:spPr>
          <a:xfrm>
            <a:off x="3905250" y="44767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5F3A"/>
                </a:solidFill>
                <a:latin typeface="Aptos"/>
                <a:ea typeface="Aptos"/>
                <a:cs typeface="Aptos"/>
              </a:rPr>
              <a:t>Saxon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98E0CC-08E9-4211-97F3-74A66BB7D4EB}"/>
              </a:ext>
            </a:extLst>
          </p:cNvPr>
          <p:cNvSpPr>
            <a:spLocks noGrp="1"/>
          </p:cNvSpPr>
          <p:nvPr/>
        </p:nvSpPr>
        <p:spPr>
          <a:xfrm>
            <a:off x="3943350" y="4876800"/>
            <a:ext cx="1924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inherits Soldier</a:t>
            </a:r>
          </a:p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no name</a:t>
            </a:r>
          </a:p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inherits attack()</a:t>
            </a:r>
          </a:p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overrides damage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9DB378-B0BD-4785-A661-7E7BF606546A}"/>
              </a:ext>
            </a:extLst>
          </p:cNvPr>
          <p:cNvSpPr>
            <a:spLocks noGrp="1"/>
          </p:cNvSpPr>
          <p:nvPr/>
        </p:nvSpPr>
        <p:spPr>
          <a:xfrm>
            <a:off x="7734300" y="20383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73"/>
                </a:solidFill>
                <a:latin typeface="Aptos"/>
                <a:ea typeface="Aptos"/>
                <a:cs typeface="Aptos"/>
              </a:rPr>
              <a:t>Composition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3AB4A3F-7031-4F69-9F33-77827E73FAAF}"/>
              </a:ext>
            </a:extLst>
          </p:cNvPr>
          <p:cNvSpPr>
            <a:spLocks noGrp="1"/>
          </p:cNvSpPr>
          <p:nvPr/>
        </p:nvSpPr>
        <p:spPr>
          <a:xfrm>
            <a:off x="7524750" y="2609850"/>
            <a:ext cx="2857500" cy="1676400"/>
          </a:xfrm>
          <a:prstGeom prst="roundRect">
            <a:avLst>
              <a:gd name="adj" fmla="val 4545"/>
            </a:avLst>
          </a:prstGeom>
          <a:solidFill>
            <a:srgbClr val="F4E7D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CD066C-206B-4BF3-A1D3-B91F84E27B9E}"/>
              </a:ext>
            </a:extLst>
          </p:cNvPr>
          <p:cNvSpPr>
            <a:spLocks noGrp="1"/>
          </p:cNvSpPr>
          <p:nvPr/>
        </p:nvSpPr>
        <p:spPr>
          <a:xfrm>
            <a:off x="7715250" y="27813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73"/>
                </a:solidFill>
                <a:latin typeface="Aptos"/>
                <a:ea typeface="Aptos"/>
                <a:cs typeface="Aptos"/>
              </a:rPr>
              <a:t>War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42B6EA-F3D9-43D3-B112-3680233C69A0}"/>
              </a:ext>
            </a:extLst>
          </p:cNvPr>
          <p:cNvSpPr>
            <a:spLocks noGrp="1"/>
          </p:cNvSpPr>
          <p:nvPr/>
        </p:nvSpPr>
        <p:spPr>
          <a:xfrm>
            <a:off x="7753350" y="3181350"/>
            <a:ext cx="24003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vikingArmy list</a:t>
            </a:r>
          </a:p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saxonArmy list</a:t>
            </a:r>
          </a:p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vikingAttack()</a:t>
            </a:r>
          </a:p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saxonAttack()</a:t>
            </a:r>
          </a:p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showStatus()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D4F0736-F0AB-493E-8127-70891599EC80}"/>
              </a:ext>
            </a:extLst>
          </p:cNvPr>
          <p:cNvSpPr>
            <a:spLocks noGrp="1"/>
          </p:cNvSpPr>
          <p:nvPr/>
        </p:nvSpPr>
        <p:spPr>
          <a:xfrm>
            <a:off x="7143750" y="4762500"/>
            <a:ext cx="3619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F34C04-15F5-4892-92D2-424CB21E372D}"/>
              </a:ext>
            </a:extLst>
          </p:cNvPr>
          <p:cNvSpPr>
            <a:spLocks noGrp="1"/>
          </p:cNvSpPr>
          <p:nvPr/>
        </p:nvSpPr>
        <p:spPr>
          <a:xfrm>
            <a:off x="7334250" y="493395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5F3A"/>
                </a:solidFill>
                <a:latin typeface="Aptos"/>
                <a:ea typeface="Aptos"/>
                <a:cs typeface="Aptos"/>
              </a:rPr>
              <a:t>Army lists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F37225-9FAE-458C-93A8-5BD4BC2B556E}"/>
              </a:ext>
            </a:extLst>
          </p:cNvPr>
          <p:cNvSpPr>
            <a:spLocks noGrp="1"/>
          </p:cNvSpPr>
          <p:nvPr/>
        </p:nvSpPr>
        <p:spPr>
          <a:xfrm>
            <a:off x="7372350" y="5334000"/>
            <a:ext cx="3162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War does not inherit from Soldier.</a:t>
            </a:r>
          </a:p>
          <a:p>
            <a:pPr algn="ctr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It contains objects and controls battle flow.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893A83A6-8C42-4303-9FD6-C28556B7DC26}"/>
              </a:ext>
            </a:extLst>
          </p:cNvPr>
          <p:cNvSpPr>
            <a:spLocks noGrp="1"/>
          </p:cNvSpPr>
          <p:nvPr/>
        </p:nvSpPr>
        <p:spPr>
          <a:xfrm>
            <a:off x="8953500" y="4286250"/>
            <a:ext cx="0" cy="476250"/>
          </a:xfrm>
          <a:prstGeom prst="line">
            <a:avLst/>
          </a:prstGeom>
          <a:ln w="28575">
            <a:solidFill>
              <a:srgbClr val="B45F3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9BAE4E-D8EA-40CA-8969-EB383A62FCB8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A746B"/>
                </a:solidFill>
                <a:latin typeface="Aptos"/>
                <a:ea typeface="Aptos"/>
                <a:cs typeface="Aptos"/>
              </a:defRPr>
            </a:pPr>
            <a:r>
              <a:rPr sz="825" b="0" dirty="0">
                <a:solidFill>
                  <a:srgbClr val="7A746B"/>
                </a:solidFill>
                <a:latin typeface="Aptos"/>
                <a:ea typeface="Aptos"/>
                <a:cs typeface="Aptos"/>
              </a:rPr>
              <a:t>Vikings OOP Mini Project · </a:t>
            </a:r>
            <a:r>
              <a:rPr lang="de-DE" sz="825" b="0" dirty="0" err="1">
                <a:solidFill>
                  <a:srgbClr val="7A746B"/>
                </a:solidFill>
                <a:latin typeface="Aptos"/>
                <a:ea typeface="Aptos"/>
                <a:cs typeface="Aptos"/>
              </a:rPr>
              <a:t>about</a:t>
            </a:r>
            <a:r>
              <a:rPr sz="825" b="0" dirty="0">
                <a:solidFill>
                  <a:srgbClr val="7A746B"/>
                </a:solidFill>
                <a:latin typeface="Aptos"/>
                <a:ea typeface="Aptos"/>
                <a:cs typeface="Aptos"/>
              </a:rPr>
              <a:t> 10 minutes</a:t>
            </a:r>
          </a:p>
        </p:txBody>
      </p:sp>
    </p:spTree>
    <p:extLst>
      <p:ext uri="{BB962C8B-B14F-4D97-AF65-F5344CB8AC3E}">
        <p14:creationId xmlns:p14="http://schemas.microsoft.com/office/powerpoint/2010/main" val="348052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FC465D1-0449-4D64-8069-76EDFDD6A8D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F3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9FDC65-E3A5-4237-95B0-12791067507A}"/>
              </a:ext>
            </a:extLst>
          </p:cNvPr>
          <p:cNvSpPr>
            <a:spLocks noGrp="1"/>
          </p:cNvSpPr>
          <p:nvPr/>
        </p:nvSpPr>
        <p:spPr>
          <a:xfrm>
            <a:off x="1257300" y="3619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What </a:t>
            </a:r>
            <a:r>
              <a:rPr lang="de-DE" sz="2550" b="1" dirty="0" err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We</a:t>
            </a:r>
            <a:r>
              <a:rPr sz="2550" b="1" dirty="0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 Learned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3D9594-553F-4630-A541-69DE6DEB1FD7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19050"/>
          </a:xfrm>
          <a:prstGeom prst="rect">
            <a:avLst/>
          </a:prstGeom>
          <a:solidFill>
            <a:srgbClr val="D7D2C8"/>
          </a:solidFill>
          <a:ln w="0">
            <a:solidFill>
              <a:srgbClr val="D7D2C8"/>
            </a:solidFill>
            <a:prstDash val="solid"/>
          </a:ln>
        </p:spPr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B033998-31EB-4AA1-A5EB-11181D779367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5334000" cy="3143250"/>
          </a:xfrm>
          <a:prstGeom prst="roundRect">
            <a:avLst>
              <a:gd name="adj" fmla="val 2424"/>
            </a:avLst>
          </a:prstGeom>
          <a:solidFill>
            <a:srgbClr val="252A2F"/>
          </a:solidFill>
          <a:ln w="9525">
            <a:solidFill>
              <a:srgbClr val="252A2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864652-988F-4492-BA69-206E03A0A440}"/>
              </a:ext>
            </a:extLst>
          </p:cNvPr>
          <p:cNvSpPr>
            <a:spLocks noGrp="1"/>
          </p:cNvSpPr>
          <p:nvPr/>
        </p:nvSpPr>
        <p:spPr>
          <a:xfrm>
            <a:off x="914400" y="1657350"/>
            <a:ext cx="4876800" cy="280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7F4ED"/>
                </a:solidFill>
                <a:latin typeface="Aptos Mono"/>
                <a:ea typeface="Aptos Mono"/>
                <a:cs typeface="Aptos Mono"/>
              </a:defRPr>
            </a:pPr>
            <a:r>
              <a:rPr sz="1275" b="0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class Viking(Soldier):</a:t>
            </a:r>
          </a:p>
          <a:p>
            <a:pPr algn="l">
              <a:defRPr sz="1275" b="0">
                <a:solidFill>
                  <a:srgbClr val="F7F4ED"/>
                </a:solidFill>
                <a:latin typeface="Aptos Mono"/>
                <a:ea typeface="Aptos Mono"/>
                <a:cs typeface="Aptos Mono"/>
              </a:defRPr>
            </a:pPr>
            <a:r>
              <a:rPr sz="1275" b="0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    def __</a:t>
            </a:r>
            <a:r>
              <a:rPr sz="1275" b="0" dirty="0" err="1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init</a:t>
            </a:r>
            <a:r>
              <a:rPr sz="1275" b="0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__(self, name, health, strength):</a:t>
            </a:r>
          </a:p>
          <a:p>
            <a:pPr algn="l">
              <a:defRPr sz="1275" b="0">
                <a:solidFill>
                  <a:srgbClr val="F7F4ED"/>
                </a:solidFill>
                <a:latin typeface="Aptos Mono"/>
                <a:ea typeface="Aptos Mono"/>
                <a:cs typeface="Aptos Mono"/>
              </a:defRPr>
            </a:pPr>
            <a:r>
              <a:rPr sz="1275" b="0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        self.name = name</a:t>
            </a:r>
          </a:p>
          <a:p>
            <a:pPr algn="l">
              <a:defRPr sz="1275" b="0">
                <a:solidFill>
                  <a:srgbClr val="F7F4ED"/>
                </a:solidFill>
                <a:latin typeface="Aptos Mono"/>
                <a:ea typeface="Aptos Mono"/>
                <a:cs typeface="Aptos Mono"/>
              </a:defRPr>
            </a:pPr>
            <a:r>
              <a:rPr sz="1275" b="0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        super().__</a:t>
            </a:r>
            <a:r>
              <a:rPr sz="1275" b="0" dirty="0" err="1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init</a:t>
            </a:r>
            <a:r>
              <a:rPr sz="1275" b="0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__(health, strength)</a:t>
            </a:r>
          </a:p>
          <a:p>
            <a:endParaRPr sz="1275" b="0" dirty="0">
              <a:solidFill>
                <a:srgbClr val="F7F4ED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275" b="0">
                <a:solidFill>
                  <a:srgbClr val="F7F4ED"/>
                </a:solidFill>
                <a:latin typeface="Aptos Mono"/>
                <a:ea typeface="Aptos Mono"/>
                <a:cs typeface="Aptos Mono"/>
              </a:defRPr>
            </a:pPr>
            <a:r>
              <a:rPr sz="1275" b="0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    def </a:t>
            </a:r>
            <a:r>
              <a:rPr sz="1275" b="0" dirty="0" err="1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receiveDamage</a:t>
            </a:r>
            <a:r>
              <a:rPr sz="1275" b="0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(self, damage):</a:t>
            </a:r>
          </a:p>
          <a:p>
            <a:pPr algn="l">
              <a:defRPr sz="1275" b="0">
                <a:solidFill>
                  <a:srgbClr val="F7F4ED"/>
                </a:solidFill>
                <a:latin typeface="Aptos Mono"/>
                <a:ea typeface="Aptos Mono"/>
                <a:cs typeface="Aptos Mono"/>
              </a:defRPr>
            </a:pPr>
            <a:r>
              <a:rPr sz="1275" b="0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sz="1275" b="0" dirty="0" err="1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self.health</a:t>
            </a:r>
            <a:r>
              <a:rPr sz="1275" b="0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 -= damage</a:t>
            </a:r>
          </a:p>
          <a:p>
            <a:pPr algn="l">
              <a:defRPr sz="1275" b="0">
                <a:solidFill>
                  <a:srgbClr val="F7F4ED"/>
                </a:solidFill>
                <a:latin typeface="Aptos Mono"/>
                <a:ea typeface="Aptos Mono"/>
                <a:cs typeface="Aptos Mono"/>
              </a:defRPr>
            </a:pPr>
            <a:r>
              <a:rPr sz="1275" b="0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        return message</a:t>
            </a:r>
            <a:r>
              <a:rPr lang="de-DE" sz="1275" b="0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	</a:t>
            </a:r>
            <a:endParaRPr sz="1275" b="0" dirty="0">
              <a:solidFill>
                <a:srgbClr val="F7F4ED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3A17182-35F6-4FFD-9A78-FCE0BD4B83BD}"/>
              </a:ext>
            </a:extLst>
          </p:cNvPr>
          <p:cNvSpPr>
            <a:spLocks noGrp="1"/>
          </p:cNvSpPr>
          <p:nvPr/>
        </p:nvSpPr>
        <p:spPr>
          <a:xfrm>
            <a:off x="6667500" y="1466850"/>
            <a:ext cx="39052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66F99F-1E1F-4A50-B0F2-18E61E57AE41}"/>
              </a:ext>
            </a:extLst>
          </p:cNvPr>
          <p:cNvSpPr>
            <a:spLocks noGrp="1"/>
          </p:cNvSpPr>
          <p:nvPr/>
        </p:nvSpPr>
        <p:spPr>
          <a:xfrm>
            <a:off x="6896100" y="15906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F3A"/>
                </a:solidFill>
                <a:latin typeface="Aptos"/>
                <a:ea typeface="Aptos"/>
                <a:cs typeface="Aptos"/>
              </a:rPr>
              <a:t>class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82A71A-F8BB-4905-8E9F-3B41400C2D50}"/>
              </a:ext>
            </a:extLst>
          </p:cNvPr>
          <p:cNvSpPr>
            <a:spLocks noGrp="1"/>
          </p:cNvSpPr>
          <p:nvPr/>
        </p:nvSpPr>
        <p:spPr>
          <a:xfrm>
            <a:off x="8305800" y="15430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Defines a new type of object and groups related data and behavior.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A67FE80-67CB-42FB-B4B3-75FFD99EB423}"/>
              </a:ext>
            </a:extLst>
          </p:cNvPr>
          <p:cNvSpPr>
            <a:spLocks noGrp="1"/>
          </p:cNvSpPr>
          <p:nvPr/>
        </p:nvSpPr>
        <p:spPr>
          <a:xfrm>
            <a:off x="6667500" y="2228850"/>
            <a:ext cx="3905250" cy="590550"/>
          </a:xfrm>
          <a:prstGeom prst="roundRect">
            <a:avLst>
              <a:gd name="adj" fmla="val 12903"/>
            </a:avLst>
          </a:prstGeom>
          <a:solidFill>
            <a:srgbClr val="E6F0EF"/>
          </a:solidFill>
          <a:ln w="9525">
            <a:solidFill>
              <a:srgbClr val="E6F0E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42E7FE-913C-4FFC-950D-0D0500DF6331}"/>
              </a:ext>
            </a:extLst>
          </p:cNvPr>
          <p:cNvSpPr>
            <a:spLocks noGrp="1"/>
          </p:cNvSpPr>
          <p:nvPr/>
        </p:nvSpPr>
        <p:spPr>
          <a:xfrm>
            <a:off x="6896100" y="23526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F73"/>
                </a:solidFill>
                <a:latin typeface="Aptos"/>
                <a:ea typeface="Aptos"/>
                <a:cs typeface="Aptos"/>
              </a:rPr>
              <a:t>__init__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075DBA-2A41-426D-B87D-4FD142117A0C}"/>
              </a:ext>
            </a:extLst>
          </p:cNvPr>
          <p:cNvSpPr>
            <a:spLocks noGrp="1"/>
          </p:cNvSpPr>
          <p:nvPr/>
        </p:nvSpPr>
        <p:spPr>
          <a:xfrm>
            <a:off x="8305800" y="23050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Runs when an object is created and sets initial attributes.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0AC13A6-E492-48C6-97DF-49F473DD8140}"/>
              </a:ext>
            </a:extLst>
          </p:cNvPr>
          <p:cNvSpPr>
            <a:spLocks noGrp="1"/>
          </p:cNvSpPr>
          <p:nvPr/>
        </p:nvSpPr>
        <p:spPr>
          <a:xfrm>
            <a:off x="6667500" y="2990850"/>
            <a:ext cx="39052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71652B-BE3F-43FE-9538-B93BF33DD9A9}"/>
              </a:ext>
            </a:extLst>
          </p:cNvPr>
          <p:cNvSpPr>
            <a:spLocks noGrp="1"/>
          </p:cNvSpPr>
          <p:nvPr/>
        </p:nvSpPr>
        <p:spPr>
          <a:xfrm>
            <a:off x="6896100" y="31146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F3A"/>
                </a:solidFill>
                <a:latin typeface="Aptos"/>
                <a:ea typeface="Aptos"/>
                <a:cs typeface="Aptos"/>
              </a:rPr>
              <a:t>super()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04F8B8-1F29-4D45-A595-1B15B548E77F}"/>
              </a:ext>
            </a:extLst>
          </p:cNvPr>
          <p:cNvSpPr>
            <a:spLocks noGrp="1"/>
          </p:cNvSpPr>
          <p:nvPr/>
        </p:nvSpPr>
        <p:spPr>
          <a:xfrm>
            <a:off x="8305800" y="30670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Calls the parent constructor so inherited setup is reused.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E0C1210-60E0-4426-8B15-97D1F6206424}"/>
              </a:ext>
            </a:extLst>
          </p:cNvPr>
          <p:cNvSpPr>
            <a:spLocks noGrp="1"/>
          </p:cNvSpPr>
          <p:nvPr/>
        </p:nvSpPr>
        <p:spPr>
          <a:xfrm>
            <a:off x="6667500" y="3752850"/>
            <a:ext cx="3905250" cy="590550"/>
          </a:xfrm>
          <a:prstGeom prst="roundRect">
            <a:avLst>
              <a:gd name="adj" fmla="val 12903"/>
            </a:avLst>
          </a:prstGeom>
          <a:solidFill>
            <a:srgbClr val="E6F0EF"/>
          </a:solidFill>
          <a:ln w="9525">
            <a:solidFill>
              <a:srgbClr val="E6F0E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486BAC-F48F-43F6-A079-D536DCB2B7AD}"/>
              </a:ext>
            </a:extLst>
          </p:cNvPr>
          <p:cNvSpPr>
            <a:spLocks noGrp="1"/>
          </p:cNvSpPr>
          <p:nvPr/>
        </p:nvSpPr>
        <p:spPr>
          <a:xfrm>
            <a:off x="6896100" y="38766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F73"/>
                </a:solidFill>
                <a:latin typeface="Aptos"/>
                <a:ea typeface="Aptos"/>
                <a:cs typeface="Aptos"/>
              </a:rPr>
              <a:t>inheritance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6E741D-B7BC-4555-9805-836D83CEBCC3}"/>
              </a:ext>
            </a:extLst>
          </p:cNvPr>
          <p:cNvSpPr>
            <a:spLocks noGrp="1"/>
          </p:cNvSpPr>
          <p:nvPr/>
        </p:nvSpPr>
        <p:spPr>
          <a:xfrm>
            <a:off x="8305800" y="38290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Lets Viking and Saxon reuse Soldier.attack().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5FBD2AC-174C-4071-B460-018250CA2552}"/>
              </a:ext>
            </a:extLst>
          </p:cNvPr>
          <p:cNvSpPr>
            <a:spLocks noGrp="1"/>
          </p:cNvSpPr>
          <p:nvPr/>
        </p:nvSpPr>
        <p:spPr>
          <a:xfrm>
            <a:off x="6667500" y="4514850"/>
            <a:ext cx="39052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E99789-6DF7-4134-BAEE-AD75440DA0D8}"/>
              </a:ext>
            </a:extLst>
          </p:cNvPr>
          <p:cNvSpPr>
            <a:spLocks noGrp="1"/>
          </p:cNvSpPr>
          <p:nvPr/>
        </p:nvSpPr>
        <p:spPr>
          <a:xfrm>
            <a:off x="6896100" y="46386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F3A"/>
                </a:solidFill>
                <a:latin typeface="Aptos"/>
                <a:ea typeface="Aptos"/>
                <a:cs typeface="Aptos"/>
              </a:rPr>
              <a:t>overriding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F0E7EC-B8A0-4D6E-BBCA-2AF6E2BC270E}"/>
              </a:ext>
            </a:extLst>
          </p:cNvPr>
          <p:cNvSpPr>
            <a:spLocks noGrp="1"/>
          </p:cNvSpPr>
          <p:nvPr/>
        </p:nvSpPr>
        <p:spPr>
          <a:xfrm>
            <a:off x="8305800" y="45910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Lets each subclass customize receiveDamage().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0C8BE2-AE4C-4264-8F34-1469DE30F135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A746B"/>
                </a:solidFill>
                <a:latin typeface="Aptos"/>
                <a:ea typeface="Aptos"/>
                <a:cs typeface="Aptos"/>
              </a:defRPr>
            </a:pPr>
            <a:r>
              <a:rPr sz="825" b="0" dirty="0">
                <a:solidFill>
                  <a:srgbClr val="7A746B"/>
                </a:solidFill>
                <a:latin typeface="Aptos"/>
                <a:ea typeface="Aptos"/>
                <a:cs typeface="Aptos"/>
              </a:rPr>
              <a:t>Vikings OOP Mini Project · </a:t>
            </a:r>
            <a:r>
              <a:rPr lang="de-DE" sz="825" b="0" dirty="0" err="1">
                <a:solidFill>
                  <a:srgbClr val="7A746B"/>
                </a:solidFill>
                <a:latin typeface="Aptos"/>
                <a:ea typeface="Aptos"/>
                <a:cs typeface="Aptos"/>
              </a:rPr>
              <a:t>about</a:t>
            </a:r>
            <a:r>
              <a:rPr sz="825" b="0" dirty="0">
                <a:solidFill>
                  <a:srgbClr val="7A746B"/>
                </a:solidFill>
                <a:latin typeface="Aptos"/>
                <a:ea typeface="Aptos"/>
                <a:cs typeface="Aptos"/>
              </a:rPr>
              <a:t> 10 minutes</a:t>
            </a:r>
          </a:p>
        </p:txBody>
      </p:sp>
    </p:spTree>
    <p:extLst>
      <p:ext uri="{BB962C8B-B14F-4D97-AF65-F5344CB8AC3E}">
        <p14:creationId xmlns:p14="http://schemas.microsoft.com/office/powerpoint/2010/main" val="72081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19D0C-0D35-143C-029C-4BAECC328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4ABE2F4-808A-A677-9A24-E8625B8024B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F3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A12F7D-1CBB-AE88-37A7-A6038076FA6F}"/>
              </a:ext>
            </a:extLst>
          </p:cNvPr>
          <p:cNvSpPr>
            <a:spLocks noGrp="1"/>
          </p:cNvSpPr>
          <p:nvPr/>
        </p:nvSpPr>
        <p:spPr>
          <a:xfrm>
            <a:off x="1257300" y="3619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What </a:t>
            </a:r>
            <a:r>
              <a:rPr lang="de-DE" sz="2550" b="1" dirty="0" err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We</a:t>
            </a:r>
            <a:r>
              <a:rPr sz="2550" b="1" dirty="0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 Learned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64345E-F46C-7939-C2A1-5883596A4BEE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19050"/>
          </a:xfrm>
          <a:prstGeom prst="rect">
            <a:avLst/>
          </a:prstGeom>
          <a:solidFill>
            <a:srgbClr val="D7D2C8"/>
          </a:solidFill>
          <a:ln w="0">
            <a:solidFill>
              <a:srgbClr val="D7D2C8"/>
            </a:solidFill>
            <a:prstDash val="solid"/>
          </a:ln>
        </p:spPr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2AA60CB-3E45-3AF7-9287-7642BBA7F0DD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5810250" cy="3143250"/>
          </a:xfrm>
          <a:prstGeom prst="roundRect">
            <a:avLst>
              <a:gd name="adj" fmla="val 2424"/>
            </a:avLst>
          </a:prstGeom>
          <a:solidFill>
            <a:srgbClr val="252A2F"/>
          </a:solidFill>
          <a:ln w="9525">
            <a:solidFill>
              <a:srgbClr val="252A2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5E186E-00E1-CE33-FB3E-60F29192CD3A}"/>
              </a:ext>
            </a:extLst>
          </p:cNvPr>
          <p:cNvSpPr>
            <a:spLocks noGrp="1"/>
          </p:cNvSpPr>
          <p:nvPr/>
        </p:nvSpPr>
        <p:spPr>
          <a:xfrm>
            <a:off x="914400" y="1657350"/>
            <a:ext cx="5317724" cy="280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#Viking</a:t>
            </a:r>
          </a:p>
          <a:p>
            <a:r>
              <a:rPr lang="en-US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class Viking(Soldier):</a:t>
            </a:r>
          </a:p>
          <a:p>
            <a:r>
              <a:rPr lang="en-US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…</a:t>
            </a:r>
          </a:p>
          <a:p>
            <a:r>
              <a:rPr lang="en-US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    def </a:t>
            </a:r>
            <a:r>
              <a:rPr lang="en-US" dirty="0" err="1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battleCry</a:t>
            </a:r>
            <a:r>
              <a:rPr lang="en-US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(self):</a:t>
            </a:r>
          </a:p>
          <a:p>
            <a:r>
              <a:rPr lang="en-US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        # your code here</a:t>
            </a:r>
          </a:p>
          <a:p>
            <a:r>
              <a:rPr lang="en-US" dirty="0">
                <a:solidFill>
                  <a:srgbClr val="F7F4ED"/>
                </a:solidFill>
                <a:latin typeface="Aptos Mono"/>
                <a:ea typeface="Aptos Mono"/>
                <a:cs typeface="Aptos Mono"/>
              </a:rPr>
              <a:t>        return("Odin Owns You All!")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D5204B4-EC67-747D-C5E7-3A09628D9F1F}"/>
              </a:ext>
            </a:extLst>
          </p:cNvPr>
          <p:cNvSpPr>
            <a:spLocks noGrp="1"/>
          </p:cNvSpPr>
          <p:nvPr/>
        </p:nvSpPr>
        <p:spPr>
          <a:xfrm>
            <a:off x="6667500" y="1447800"/>
            <a:ext cx="39052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75DEEA-C3A3-037C-00CF-8A0D0935E306}"/>
              </a:ext>
            </a:extLst>
          </p:cNvPr>
          <p:cNvSpPr>
            <a:spLocks noGrp="1"/>
          </p:cNvSpPr>
          <p:nvPr/>
        </p:nvSpPr>
        <p:spPr>
          <a:xfrm>
            <a:off x="6896100" y="15906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F3A"/>
                </a:solidFill>
                <a:latin typeface="Aptos"/>
                <a:ea typeface="Aptos"/>
                <a:cs typeface="Aptos"/>
              </a:rPr>
              <a:t>class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9783C7-231D-655B-A83C-496E02D2F93E}"/>
              </a:ext>
            </a:extLst>
          </p:cNvPr>
          <p:cNvSpPr>
            <a:spLocks noGrp="1"/>
          </p:cNvSpPr>
          <p:nvPr/>
        </p:nvSpPr>
        <p:spPr>
          <a:xfrm>
            <a:off x="8305800" y="15430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lang="de-DE"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  <a:t>Viking </a:t>
            </a:r>
            <a:r>
              <a:rPr lang="de-DE" sz="1050" b="0" dirty="0" err="1">
                <a:solidFill>
                  <a:srgbClr val="5D6670"/>
                </a:solidFill>
                <a:latin typeface="Aptos"/>
                <a:ea typeface="Aptos"/>
                <a:cs typeface="Aptos"/>
              </a:rPr>
              <a:t>inherits</a:t>
            </a:r>
            <a:r>
              <a:rPr lang="de-DE"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  <a:t> </a:t>
            </a:r>
            <a:r>
              <a:rPr lang="de-DE" sz="1050" b="0" dirty="0" err="1">
                <a:solidFill>
                  <a:srgbClr val="5D6670"/>
                </a:solidFill>
                <a:latin typeface="Aptos"/>
                <a:ea typeface="Aptos"/>
                <a:cs typeface="Aptos"/>
              </a:rPr>
              <a:t>from</a:t>
            </a:r>
            <a:r>
              <a:rPr lang="de-DE"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  <a:t> Soldier</a:t>
            </a:r>
            <a:endParaRPr sz="1050" b="0" dirty="0">
              <a:solidFill>
                <a:srgbClr val="5D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51B9D22-ED23-E95E-EBAB-3F69AD0F62AD}"/>
              </a:ext>
            </a:extLst>
          </p:cNvPr>
          <p:cNvSpPr>
            <a:spLocks noGrp="1"/>
          </p:cNvSpPr>
          <p:nvPr/>
        </p:nvSpPr>
        <p:spPr>
          <a:xfrm>
            <a:off x="6667500" y="2228850"/>
            <a:ext cx="3905250" cy="590550"/>
          </a:xfrm>
          <a:prstGeom prst="roundRect">
            <a:avLst>
              <a:gd name="adj" fmla="val 12903"/>
            </a:avLst>
          </a:prstGeom>
          <a:solidFill>
            <a:srgbClr val="E6F0EF"/>
          </a:solidFill>
          <a:ln w="9525">
            <a:solidFill>
              <a:srgbClr val="E6F0E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DC743B-4918-B909-76DB-C511532EB664}"/>
              </a:ext>
            </a:extLst>
          </p:cNvPr>
          <p:cNvSpPr>
            <a:spLocks noGrp="1"/>
          </p:cNvSpPr>
          <p:nvPr/>
        </p:nvSpPr>
        <p:spPr>
          <a:xfrm>
            <a:off x="6896100" y="23526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lang="de-DE" sz="1350" b="1" dirty="0" err="1">
                <a:solidFill>
                  <a:srgbClr val="2F6F73"/>
                </a:solidFill>
                <a:latin typeface="Aptos"/>
                <a:ea typeface="Aptos"/>
                <a:cs typeface="Aptos"/>
              </a:rPr>
              <a:t>battleCry</a:t>
            </a:r>
            <a:r>
              <a:rPr lang="de-DE" sz="1350" b="1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()</a:t>
            </a:r>
            <a:endParaRPr sz="1350" b="1" dirty="0">
              <a:solidFill>
                <a:srgbClr val="2F6F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CA1657-ED4E-E902-1C23-268C412F1014}"/>
              </a:ext>
            </a:extLst>
          </p:cNvPr>
          <p:cNvSpPr>
            <a:spLocks noGrp="1"/>
          </p:cNvSpPr>
          <p:nvPr/>
        </p:nvSpPr>
        <p:spPr>
          <a:xfrm>
            <a:off x="8305800" y="23050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  <a:t>R</a:t>
            </a:r>
            <a:r>
              <a:rPr lang="de-DE" sz="1050" b="0" dirty="0" err="1">
                <a:solidFill>
                  <a:srgbClr val="5D6670"/>
                </a:solidFill>
                <a:latin typeface="Aptos"/>
                <a:ea typeface="Aptos"/>
                <a:cs typeface="Aptos"/>
              </a:rPr>
              <a:t>eturns</a:t>
            </a:r>
            <a:r>
              <a:rPr lang="de-DE"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  <a:t> </a:t>
            </a:r>
            <a:r>
              <a:rPr lang="de-DE" sz="1050" b="0" dirty="0" err="1">
                <a:solidFill>
                  <a:srgbClr val="5D6670"/>
                </a:solidFill>
                <a:latin typeface="Aptos"/>
                <a:ea typeface="Aptos"/>
                <a:cs typeface="Aptos"/>
              </a:rPr>
              <a:t>the</a:t>
            </a:r>
            <a:r>
              <a:rPr lang="de-DE"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  <a:t> battle </a:t>
            </a:r>
            <a:r>
              <a:rPr lang="de-DE" sz="1050" b="0" dirty="0" err="1">
                <a:solidFill>
                  <a:srgbClr val="5D6670"/>
                </a:solidFill>
                <a:latin typeface="Aptos"/>
                <a:ea typeface="Aptos"/>
                <a:cs typeface="Aptos"/>
              </a:rPr>
              <a:t>cry</a:t>
            </a:r>
            <a:r>
              <a:rPr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3F5B4AF-20D6-BB5D-8B2D-C86A6AA3984A}"/>
              </a:ext>
            </a:extLst>
          </p:cNvPr>
          <p:cNvSpPr>
            <a:spLocks noGrp="1"/>
          </p:cNvSpPr>
          <p:nvPr/>
        </p:nvSpPr>
        <p:spPr>
          <a:xfrm>
            <a:off x="6667500" y="2990849"/>
            <a:ext cx="3905250" cy="11525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1AE5A9-6C36-1BA0-5AC4-BBB3D341BEB1}"/>
              </a:ext>
            </a:extLst>
          </p:cNvPr>
          <p:cNvSpPr>
            <a:spLocks noGrp="1"/>
          </p:cNvSpPr>
          <p:nvPr/>
        </p:nvSpPr>
        <p:spPr>
          <a:xfrm>
            <a:off x="6896100" y="31146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B45F3A"/>
                </a:solidFill>
                <a:latin typeface="Aptos"/>
                <a:ea typeface="Aptos"/>
                <a:cs typeface="Aptos"/>
              </a:rPr>
              <a:t>super()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16DB9A-C655-D84D-166E-44023C07C857}"/>
              </a:ext>
            </a:extLst>
          </p:cNvPr>
          <p:cNvSpPr>
            <a:spLocks noGrp="1"/>
          </p:cNvSpPr>
          <p:nvPr/>
        </p:nvSpPr>
        <p:spPr>
          <a:xfrm>
            <a:off x="8305800" y="30670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lang="de-DE" sz="1050" b="0" dirty="0" err="1">
                <a:solidFill>
                  <a:srgbClr val="5D6670"/>
                </a:solidFill>
                <a:latin typeface="Aptos"/>
                <a:ea typeface="Aptos"/>
                <a:cs typeface="Aptos"/>
              </a:rPr>
              <a:t>attack</a:t>
            </a:r>
            <a:r>
              <a:rPr lang="de-DE"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  <a:t>()</a:t>
            </a:r>
            <a:br>
              <a:rPr lang="de-DE"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</a:br>
            <a:r>
              <a:rPr lang="de-DE" sz="1050" b="0" dirty="0" err="1">
                <a:solidFill>
                  <a:srgbClr val="5D6670"/>
                </a:solidFill>
                <a:latin typeface="Aptos"/>
                <a:ea typeface="Aptos"/>
                <a:cs typeface="Aptos"/>
              </a:rPr>
              <a:t>recieveDamage</a:t>
            </a:r>
            <a:r>
              <a:rPr lang="de-DE"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  <a:t>()</a:t>
            </a:r>
            <a:br>
              <a:rPr lang="de-DE"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</a:br>
            <a:r>
              <a:rPr lang="de-DE" sz="1050" b="0" dirty="0" err="1">
                <a:solidFill>
                  <a:srgbClr val="5D6670"/>
                </a:solidFill>
                <a:latin typeface="Aptos"/>
                <a:ea typeface="Aptos"/>
                <a:cs typeface="Aptos"/>
              </a:rPr>
              <a:t>health</a:t>
            </a:r>
            <a:br>
              <a:rPr lang="de-DE"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</a:br>
            <a:r>
              <a:rPr lang="de-DE" sz="1050" b="0" dirty="0" err="1">
                <a:solidFill>
                  <a:srgbClr val="5D6670"/>
                </a:solidFill>
                <a:latin typeface="Aptos"/>
                <a:ea typeface="Aptos"/>
                <a:cs typeface="Aptos"/>
              </a:rPr>
              <a:t>strength</a:t>
            </a:r>
            <a:endParaRPr sz="1050" b="0" dirty="0">
              <a:solidFill>
                <a:srgbClr val="5D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5AF9EA9-99EE-74F2-8E67-2BF05A6C4228}"/>
              </a:ext>
            </a:extLst>
          </p:cNvPr>
          <p:cNvSpPr>
            <a:spLocks noGrp="1"/>
          </p:cNvSpPr>
          <p:nvPr/>
        </p:nvSpPr>
        <p:spPr>
          <a:xfrm>
            <a:off x="6667500" y="5448300"/>
            <a:ext cx="39052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D385F4-E039-E7AA-EB8B-D8E2E2A82842}"/>
              </a:ext>
            </a:extLst>
          </p:cNvPr>
          <p:cNvSpPr>
            <a:spLocks noGrp="1"/>
          </p:cNvSpPr>
          <p:nvPr/>
        </p:nvSpPr>
        <p:spPr>
          <a:xfrm>
            <a:off x="6896100" y="55816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B45F3A"/>
                </a:solidFill>
                <a:latin typeface="Aptos"/>
                <a:ea typeface="Aptos"/>
                <a:cs typeface="Aptos"/>
              </a:rPr>
              <a:t>overriding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5698FA-2D7D-F569-E729-2603E8239C85}"/>
              </a:ext>
            </a:extLst>
          </p:cNvPr>
          <p:cNvSpPr>
            <a:spLocks noGrp="1"/>
          </p:cNvSpPr>
          <p:nvPr/>
        </p:nvSpPr>
        <p:spPr>
          <a:xfrm>
            <a:off x="8305800" y="551497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  <a:t>Lets each subclass customize </a:t>
            </a:r>
            <a:r>
              <a:rPr sz="1050" b="0" dirty="0" err="1">
                <a:solidFill>
                  <a:srgbClr val="5D6670"/>
                </a:solidFill>
                <a:latin typeface="Aptos"/>
                <a:ea typeface="Aptos"/>
                <a:cs typeface="Aptos"/>
              </a:rPr>
              <a:t>receiveDamage</a:t>
            </a:r>
            <a:r>
              <a:rPr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  <a:t>().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31C665-FFA4-A7FA-1D09-2D71A4C95540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A746B"/>
                </a:solidFill>
                <a:latin typeface="Aptos"/>
                <a:ea typeface="Aptos"/>
                <a:cs typeface="Aptos"/>
              </a:defRPr>
            </a:pPr>
            <a:r>
              <a:rPr sz="825" b="0" dirty="0">
                <a:solidFill>
                  <a:srgbClr val="7A746B"/>
                </a:solidFill>
                <a:latin typeface="Aptos"/>
                <a:ea typeface="Aptos"/>
                <a:cs typeface="Aptos"/>
              </a:rPr>
              <a:t>Vikings OOP Mini Project · </a:t>
            </a:r>
            <a:r>
              <a:rPr lang="de-DE" sz="825" b="0" dirty="0" err="1">
                <a:solidFill>
                  <a:srgbClr val="7A746B"/>
                </a:solidFill>
                <a:latin typeface="Aptos"/>
                <a:ea typeface="Aptos"/>
                <a:cs typeface="Aptos"/>
              </a:rPr>
              <a:t>about</a:t>
            </a:r>
            <a:r>
              <a:rPr sz="825" b="0" dirty="0">
                <a:solidFill>
                  <a:srgbClr val="7A746B"/>
                </a:solidFill>
                <a:latin typeface="Aptos"/>
                <a:ea typeface="Aptos"/>
                <a:cs typeface="Aptos"/>
              </a:rPr>
              <a:t> 10 minutes</a:t>
            </a:r>
          </a:p>
        </p:txBody>
      </p:sp>
      <p:sp>
        <p:nvSpPr>
          <p:cNvPr id="23" name="Rounded Rectangle 14">
            <a:extLst>
              <a:ext uri="{FF2B5EF4-FFF2-40B4-BE49-F238E27FC236}">
                <a16:creationId xmlns:a16="http://schemas.microsoft.com/office/drawing/2014/main" id="{88C87591-E52B-9DA9-49D7-D59109C1E28D}"/>
              </a:ext>
            </a:extLst>
          </p:cNvPr>
          <p:cNvSpPr>
            <a:spLocks noGrp="1"/>
          </p:cNvSpPr>
          <p:nvPr/>
        </p:nvSpPr>
        <p:spPr>
          <a:xfrm>
            <a:off x="6667500" y="4667250"/>
            <a:ext cx="3905250" cy="590550"/>
          </a:xfrm>
          <a:prstGeom prst="roundRect">
            <a:avLst>
              <a:gd name="adj" fmla="val 12903"/>
            </a:avLst>
          </a:prstGeom>
          <a:solidFill>
            <a:srgbClr val="E6F0EF"/>
          </a:solidFill>
          <a:ln w="9525">
            <a:solidFill>
              <a:srgbClr val="E6F0EF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696F61-D89A-591A-35E7-FECC6F39D22D}"/>
              </a:ext>
            </a:extLst>
          </p:cNvPr>
          <p:cNvSpPr>
            <a:spLocks noGrp="1"/>
          </p:cNvSpPr>
          <p:nvPr/>
        </p:nvSpPr>
        <p:spPr>
          <a:xfrm>
            <a:off x="6896100" y="47910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inheritance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4D4774-82C2-FB6F-33FF-FC72272AC214}"/>
              </a:ext>
            </a:extLst>
          </p:cNvPr>
          <p:cNvSpPr>
            <a:spLocks noGrp="1"/>
          </p:cNvSpPr>
          <p:nvPr/>
        </p:nvSpPr>
        <p:spPr>
          <a:xfrm>
            <a:off x="8305800" y="47434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  <a:t>Lets Viking and Saxon reuse </a:t>
            </a:r>
            <a:r>
              <a:rPr lang="de-DE"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  <a:t>super(</a:t>
            </a:r>
            <a:r>
              <a:rPr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  <a:t>)</a:t>
            </a:r>
            <a:r>
              <a:rPr lang="de-DE"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  <a:t> </a:t>
            </a:r>
            <a:r>
              <a:rPr lang="de-DE" sz="1050" b="0" dirty="0" err="1">
                <a:solidFill>
                  <a:srgbClr val="5D6670"/>
                </a:solidFill>
                <a:latin typeface="Aptos"/>
                <a:ea typeface="Aptos"/>
                <a:cs typeface="Aptos"/>
              </a:rPr>
              <a:t>methods</a:t>
            </a:r>
            <a:r>
              <a:rPr sz="1050" b="0" dirty="0">
                <a:solidFill>
                  <a:srgbClr val="5D667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71BB03-3840-5C81-4235-D32D3A357CBB}"/>
              </a:ext>
            </a:extLst>
          </p:cNvPr>
          <p:cNvSpPr txBox="1"/>
          <p:nvPr/>
        </p:nvSpPr>
        <p:spPr>
          <a:xfrm>
            <a:off x="8362950" y="3183493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------------</a:t>
            </a:r>
          </a:p>
        </p:txBody>
      </p:sp>
    </p:spTree>
    <p:extLst>
      <p:ext uri="{BB962C8B-B14F-4D97-AF65-F5344CB8AC3E}">
        <p14:creationId xmlns:p14="http://schemas.microsoft.com/office/powerpoint/2010/main" val="142253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BBA66C-3FFA-D2A8-4C5F-5D457C3DA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166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78FD1A1-1833-4959-82BA-CB91BF7DA21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F3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840A90-CA60-4CE1-A1FF-B3BB95FFAAA9}"/>
              </a:ext>
            </a:extLst>
          </p:cNvPr>
          <p:cNvSpPr>
            <a:spLocks noGrp="1"/>
          </p:cNvSpPr>
          <p:nvPr/>
        </p:nvSpPr>
        <p:spPr>
          <a:xfrm>
            <a:off x="1257300" y="3619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Challenges and Final Result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94D33D-3232-41DF-869C-5FD70E510314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19050"/>
          </a:xfrm>
          <a:prstGeom prst="rect">
            <a:avLst/>
          </a:prstGeom>
          <a:solidFill>
            <a:srgbClr val="D7D2C8"/>
          </a:solidFill>
          <a:ln w="0">
            <a:solidFill>
              <a:srgbClr val="D7D2C8"/>
            </a:solidFill>
            <a:prstDash val="solid"/>
          </a:ln>
        </p:spPr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3D86FB9-5816-455F-ABFB-2E3EE2A7FB22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4876800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6DD4CD-38E2-40A0-A236-3B5E8A4A7DE0}"/>
              </a:ext>
            </a:extLst>
          </p:cNvPr>
          <p:cNvSpPr>
            <a:spLocks noGrp="1"/>
          </p:cNvSpPr>
          <p:nvPr/>
        </p:nvSpPr>
        <p:spPr>
          <a:xfrm>
            <a:off x="990600" y="16573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B45F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5F3A"/>
                </a:solidFill>
                <a:latin typeface="Aptos"/>
                <a:ea typeface="Aptos"/>
                <a:cs typeface="Aptos"/>
              </a:rPr>
              <a:t>Main challenges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0F6E79B-0FE0-45E4-BDBE-A0A38866BD39}"/>
              </a:ext>
            </a:extLst>
          </p:cNvPr>
          <p:cNvSpPr>
            <a:spLocks noGrp="1"/>
          </p:cNvSpPr>
          <p:nvPr/>
        </p:nvSpPr>
        <p:spPr>
          <a:xfrm>
            <a:off x="990600" y="2295525"/>
            <a:ext cx="85725" cy="85725"/>
          </a:xfrm>
          <a:prstGeom prst="ellipse">
            <a:avLst/>
          </a:prstGeom>
          <a:solidFill>
            <a:srgbClr val="B45F3A"/>
          </a:solidFill>
          <a:ln w="0">
            <a:solidFill>
              <a:srgbClr val="B45F3A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56D0CC-E829-46E8-8350-6309D5F109B7}"/>
              </a:ext>
            </a:extLst>
          </p:cNvPr>
          <p:cNvSpPr>
            <a:spLocks noGrp="1"/>
          </p:cNvSpPr>
          <p:nvPr/>
        </p:nvSpPr>
        <p:spPr>
          <a:xfrm>
            <a:off x="1219200" y="2209800"/>
            <a:ext cx="3676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Choosing what belongs in the parent class versus the subclasses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EED50D-959A-4A53-9280-90DB8A3BFBC6}"/>
              </a:ext>
            </a:extLst>
          </p:cNvPr>
          <p:cNvSpPr>
            <a:spLocks noGrp="1"/>
          </p:cNvSpPr>
          <p:nvPr/>
        </p:nvSpPr>
        <p:spPr>
          <a:xfrm>
            <a:off x="990600" y="2981325"/>
            <a:ext cx="85725" cy="85725"/>
          </a:xfrm>
          <a:prstGeom prst="ellipse">
            <a:avLst/>
          </a:prstGeom>
          <a:solidFill>
            <a:srgbClr val="B45F3A"/>
          </a:solidFill>
          <a:ln w="0">
            <a:solidFill>
              <a:srgbClr val="B45F3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9D53FB-44B0-4FC7-B392-62239E92DD8E}"/>
              </a:ext>
            </a:extLst>
          </p:cNvPr>
          <p:cNvSpPr>
            <a:spLocks noGrp="1"/>
          </p:cNvSpPr>
          <p:nvPr/>
        </p:nvSpPr>
        <p:spPr>
          <a:xfrm>
            <a:off x="1219200" y="2895600"/>
            <a:ext cx="3676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Making return strings match the unit tests exactly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BC98148-9859-4C4D-86B2-787F4482BA66}"/>
              </a:ext>
            </a:extLst>
          </p:cNvPr>
          <p:cNvSpPr>
            <a:spLocks noGrp="1"/>
          </p:cNvSpPr>
          <p:nvPr/>
        </p:nvSpPr>
        <p:spPr>
          <a:xfrm>
            <a:off x="990600" y="3667125"/>
            <a:ext cx="85725" cy="85725"/>
          </a:xfrm>
          <a:prstGeom prst="ellipse">
            <a:avLst/>
          </a:prstGeom>
          <a:solidFill>
            <a:srgbClr val="B45F3A"/>
          </a:solidFill>
          <a:ln w="0">
            <a:solidFill>
              <a:srgbClr val="B45F3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920323-7E3D-45E7-8E58-90478711C37F}"/>
              </a:ext>
            </a:extLst>
          </p:cNvPr>
          <p:cNvSpPr>
            <a:spLocks noGrp="1"/>
          </p:cNvSpPr>
          <p:nvPr/>
        </p:nvSpPr>
        <p:spPr>
          <a:xfrm>
            <a:off x="1219200" y="3581400"/>
            <a:ext cx="3676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Removing defeated soldiers from the correct army list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206EA2E-2AC0-4268-8D0E-1E078BF246A2}"/>
              </a:ext>
            </a:extLst>
          </p:cNvPr>
          <p:cNvSpPr>
            <a:spLocks noGrp="1"/>
          </p:cNvSpPr>
          <p:nvPr/>
        </p:nvSpPr>
        <p:spPr>
          <a:xfrm>
            <a:off x="6229350" y="1352550"/>
            <a:ext cx="4762500" cy="3238500"/>
          </a:xfrm>
          <a:prstGeom prst="roundRect">
            <a:avLst>
              <a:gd name="adj" fmla="val 2353"/>
            </a:avLst>
          </a:prstGeom>
          <a:solidFill>
            <a:srgbClr val="E6F0EF"/>
          </a:solidFill>
          <a:ln w="9525">
            <a:solidFill>
              <a:srgbClr val="E6F0E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66153E-0F8C-45EE-A122-55035340F64F}"/>
              </a:ext>
            </a:extLst>
          </p:cNvPr>
          <p:cNvSpPr>
            <a:spLocks noGrp="1"/>
          </p:cNvSpPr>
          <p:nvPr/>
        </p:nvSpPr>
        <p:spPr>
          <a:xfrm>
            <a:off x="6610350" y="16573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6F73"/>
                </a:solidFill>
                <a:latin typeface="Aptos"/>
                <a:ea typeface="Aptos"/>
                <a:cs typeface="Aptos"/>
              </a:rPr>
              <a:t>Final result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798D2E-4CA1-48EC-8084-5F2F72B86A38}"/>
              </a:ext>
            </a:extLst>
          </p:cNvPr>
          <p:cNvSpPr>
            <a:spLocks noGrp="1"/>
          </p:cNvSpPr>
          <p:nvPr/>
        </p:nvSpPr>
        <p:spPr>
          <a:xfrm>
            <a:off x="6610350" y="2295525"/>
            <a:ext cx="85725" cy="85725"/>
          </a:xfrm>
          <a:prstGeom prst="ellipse">
            <a:avLst/>
          </a:prstGeom>
          <a:solidFill>
            <a:srgbClr val="2F6F73"/>
          </a:solidFill>
          <a:ln w="0">
            <a:solidFill>
              <a:srgbClr val="2F6F7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B36977-549D-4123-A660-713229DA6D33}"/>
              </a:ext>
            </a:extLst>
          </p:cNvPr>
          <p:cNvSpPr>
            <a:spLocks noGrp="1"/>
          </p:cNvSpPr>
          <p:nvPr/>
        </p:nvSpPr>
        <p:spPr>
          <a:xfrm>
            <a:off x="6838950" y="2209800"/>
            <a:ext cx="3295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Soldier tests passed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83130B3-29ED-4D00-9719-BE874A8E3072}"/>
              </a:ext>
            </a:extLst>
          </p:cNvPr>
          <p:cNvSpPr>
            <a:spLocks noGrp="1"/>
          </p:cNvSpPr>
          <p:nvPr/>
        </p:nvSpPr>
        <p:spPr>
          <a:xfrm>
            <a:off x="6610350" y="2809875"/>
            <a:ext cx="85725" cy="85725"/>
          </a:xfrm>
          <a:prstGeom prst="ellipse">
            <a:avLst/>
          </a:prstGeom>
          <a:solidFill>
            <a:srgbClr val="2F6F73"/>
          </a:solidFill>
          <a:ln w="0">
            <a:solidFill>
              <a:srgbClr val="2F6F73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8F9B20-BEB8-412D-A20F-8230B67D3081}"/>
              </a:ext>
            </a:extLst>
          </p:cNvPr>
          <p:cNvSpPr>
            <a:spLocks noGrp="1"/>
          </p:cNvSpPr>
          <p:nvPr/>
        </p:nvSpPr>
        <p:spPr>
          <a:xfrm>
            <a:off x="6838950" y="2724150"/>
            <a:ext cx="3295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Viking tests passed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51C2AC4-5A77-4315-B6DD-D74E870E043B}"/>
              </a:ext>
            </a:extLst>
          </p:cNvPr>
          <p:cNvSpPr>
            <a:spLocks noGrp="1"/>
          </p:cNvSpPr>
          <p:nvPr/>
        </p:nvSpPr>
        <p:spPr>
          <a:xfrm>
            <a:off x="6610350" y="3324225"/>
            <a:ext cx="85725" cy="85725"/>
          </a:xfrm>
          <a:prstGeom prst="ellipse">
            <a:avLst/>
          </a:prstGeom>
          <a:solidFill>
            <a:srgbClr val="2F6F73"/>
          </a:solidFill>
          <a:ln w="0">
            <a:solidFill>
              <a:srgbClr val="2F6F73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2F4CA4-05C1-4D2A-A3A7-0F71550C23BB}"/>
              </a:ext>
            </a:extLst>
          </p:cNvPr>
          <p:cNvSpPr>
            <a:spLocks noGrp="1"/>
          </p:cNvSpPr>
          <p:nvPr/>
        </p:nvSpPr>
        <p:spPr>
          <a:xfrm>
            <a:off x="6838950" y="3238500"/>
            <a:ext cx="3295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Saxon tests passed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6627573-C22D-4D94-929A-DC4A1266E809}"/>
              </a:ext>
            </a:extLst>
          </p:cNvPr>
          <p:cNvSpPr>
            <a:spLocks noGrp="1"/>
          </p:cNvSpPr>
          <p:nvPr/>
        </p:nvSpPr>
        <p:spPr>
          <a:xfrm>
            <a:off x="6610350" y="3838575"/>
            <a:ext cx="85725" cy="85725"/>
          </a:xfrm>
          <a:prstGeom prst="ellipse">
            <a:avLst/>
          </a:prstGeom>
          <a:solidFill>
            <a:srgbClr val="2F6F73"/>
          </a:solidFill>
          <a:ln w="0">
            <a:solidFill>
              <a:srgbClr val="2F6F73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56205E-ADA8-4C6E-B5E9-AE11680CE2D4}"/>
              </a:ext>
            </a:extLst>
          </p:cNvPr>
          <p:cNvSpPr>
            <a:spLocks noGrp="1"/>
          </p:cNvSpPr>
          <p:nvPr/>
        </p:nvSpPr>
        <p:spPr>
          <a:xfrm>
            <a:off x="6838950" y="3752850"/>
            <a:ext cx="3295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War tests passed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A8AB95-9A73-4723-A753-ACB3DDB97850}"/>
              </a:ext>
            </a:extLst>
          </p:cNvPr>
          <p:cNvSpPr>
            <a:spLocks noGrp="1"/>
          </p:cNvSpPr>
          <p:nvPr/>
        </p:nvSpPr>
        <p:spPr>
          <a:xfrm>
            <a:off x="1352550" y="5219700"/>
            <a:ext cx="9486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Big takeaway: OOP helps separate shared logic from special behavior, which makes the code easier to test and extend.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20CC5A-75DA-4E49-90A9-24A2CD1BB096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A746B"/>
                </a:solidFill>
                <a:latin typeface="Aptos"/>
                <a:ea typeface="Aptos"/>
                <a:cs typeface="Aptos"/>
              </a:defRPr>
            </a:pPr>
            <a:r>
              <a:rPr sz="825" b="0" dirty="0">
                <a:solidFill>
                  <a:srgbClr val="7A746B"/>
                </a:solidFill>
                <a:latin typeface="Aptos"/>
                <a:ea typeface="Aptos"/>
                <a:cs typeface="Aptos"/>
              </a:rPr>
              <a:t>Vikings OOP Mini Project · </a:t>
            </a:r>
            <a:r>
              <a:rPr lang="de-DE" sz="825" b="0" dirty="0" err="1">
                <a:solidFill>
                  <a:srgbClr val="7A746B"/>
                </a:solidFill>
                <a:latin typeface="Aptos"/>
                <a:ea typeface="Aptos"/>
                <a:cs typeface="Aptos"/>
              </a:rPr>
              <a:t>about</a:t>
            </a:r>
            <a:r>
              <a:rPr sz="825" b="0" dirty="0">
                <a:solidFill>
                  <a:srgbClr val="7A746B"/>
                </a:solidFill>
                <a:latin typeface="Aptos"/>
                <a:ea typeface="Aptos"/>
                <a:cs typeface="Aptos"/>
              </a:rPr>
              <a:t> 10 minutes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4843B8A-14EB-6335-9388-136B50F02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446" y="3683263"/>
            <a:ext cx="2959223" cy="133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95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E98C1-C324-A0C2-ED2E-430E1FFC616C}"/>
              </a:ext>
            </a:extLst>
          </p:cNvPr>
          <p:cNvSpPr txBox="1"/>
          <p:nvPr/>
        </p:nvSpPr>
        <p:spPr>
          <a:xfrm>
            <a:off x="2379215" y="1731145"/>
            <a:ext cx="81852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6000" b="1" dirty="0">
                <a:solidFill>
                  <a:schemeClr val="bg1"/>
                </a:solidFill>
              </a:rPr>
              <a:t>Dankeschön</a:t>
            </a:r>
          </a:p>
          <a:p>
            <a:pPr algn="ctr"/>
            <a:r>
              <a:rPr lang="de-DE" sz="6000" b="1" dirty="0">
                <a:solidFill>
                  <a:schemeClr val="bg1"/>
                </a:solidFill>
              </a:rPr>
              <a:t>Muchas Gracias</a:t>
            </a:r>
          </a:p>
          <a:p>
            <a:pPr algn="ctr"/>
            <a:r>
              <a:rPr lang="ja-JP" altLang="de-DE" sz="6000" b="1" dirty="0">
                <a:solidFill>
                  <a:schemeClr val="bg1"/>
                </a:solidFill>
              </a:rPr>
              <a:t>谢谢 </a:t>
            </a:r>
            <a:r>
              <a:rPr lang="de-DE" altLang="ja-JP" sz="6000" b="1" dirty="0">
                <a:solidFill>
                  <a:schemeClr val="bg1"/>
                </a:solidFill>
              </a:rPr>
              <a:t>(</a:t>
            </a:r>
            <a:r>
              <a:rPr lang="de-DE" sz="6000" b="1" dirty="0" err="1">
                <a:solidFill>
                  <a:schemeClr val="bg1"/>
                </a:solidFill>
              </a:rPr>
              <a:t>xiexie</a:t>
            </a:r>
            <a:r>
              <a:rPr lang="de-DE" sz="6000" b="1" dirty="0">
                <a:solidFill>
                  <a:schemeClr val="bg1"/>
                </a:solidFill>
              </a:rPr>
              <a:t>)</a:t>
            </a:r>
          </a:p>
          <a:p>
            <a:pPr algn="ctr"/>
            <a:r>
              <a:rPr lang="de-DE" sz="6000" b="1" dirty="0" err="1">
                <a:solidFill>
                  <a:schemeClr val="bg1"/>
                </a:solidFill>
              </a:rPr>
              <a:t>Thank</a:t>
            </a:r>
            <a:r>
              <a:rPr lang="de-DE" sz="6000" b="1" dirty="0">
                <a:solidFill>
                  <a:schemeClr val="bg1"/>
                </a:solidFill>
              </a:rPr>
              <a:t> </a:t>
            </a:r>
            <a:r>
              <a:rPr lang="de-DE" sz="6000" b="1" dirty="0" err="1">
                <a:solidFill>
                  <a:schemeClr val="bg1"/>
                </a:solidFill>
              </a:rPr>
              <a:t>you</a:t>
            </a:r>
            <a:endParaRPr lang="de-DE" sz="6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E8F3CB-9D27-FDA3-2341-A28641638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F853C8-0058-3FFA-AF24-09D6B9E36A4E}"/>
              </a:ext>
            </a:extLst>
          </p:cNvPr>
          <p:cNvSpPr txBox="1"/>
          <p:nvPr/>
        </p:nvSpPr>
        <p:spPr>
          <a:xfrm>
            <a:off x="2867488" y="2902998"/>
            <a:ext cx="669565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6000" b="1" dirty="0">
                <a:solidFill>
                  <a:schemeClr val="bg1"/>
                </a:solidFill>
              </a:rPr>
              <a:t>Dankeschön</a:t>
            </a:r>
          </a:p>
          <a:p>
            <a:pPr algn="ctr"/>
            <a:r>
              <a:rPr lang="de-DE" sz="6000" b="1" dirty="0">
                <a:solidFill>
                  <a:schemeClr val="bg1"/>
                </a:solidFill>
              </a:rPr>
              <a:t>Muchas Gracias</a:t>
            </a:r>
          </a:p>
          <a:p>
            <a:pPr algn="ctr"/>
            <a:r>
              <a:rPr lang="ja-JP" altLang="de-DE" sz="6000" b="1" dirty="0">
                <a:solidFill>
                  <a:schemeClr val="bg1"/>
                </a:solidFill>
              </a:rPr>
              <a:t>谢谢 </a:t>
            </a:r>
            <a:r>
              <a:rPr lang="de-DE" altLang="ja-JP" sz="6000" b="1" dirty="0">
                <a:solidFill>
                  <a:schemeClr val="bg1"/>
                </a:solidFill>
              </a:rPr>
              <a:t>(</a:t>
            </a:r>
            <a:r>
              <a:rPr lang="de-DE" sz="6000" b="1" dirty="0" err="1">
                <a:solidFill>
                  <a:schemeClr val="bg1"/>
                </a:solidFill>
              </a:rPr>
              <a:t>xiexie</a:t>
            </a:r>
            <a:r>
              <a:rPr lang="de-DE" sz="6000" b="1" dirty="0">
                <a:solidFill>
                  <a:schemeClr val="bg1"/>
                </a:solidFill>
              </a:rPr>
              <a:t>)</a:t>
            </a:r>
          </a:p>
          <a:p>
            <a:pPr algn="ctr"/>
            <a:r>
              <a:rPr lang="de-DE" sz="6000" b="1" dirty="0" err="1">
                <a:solidFill>
                  <a:schemeClr val="bg1"/>
                </a:solidFill>
              </a:rPr>
              <a:t>Thank</a:t>
            </a:r>
            <a:r>
              <a:rPr lang="de-DE" sz="6000" b="1" dirty="0">
                <a:solidFill>
                  <a:schemeClr val="bg1"/>
                </a:solidFill>
              </a:rPr>
              <a:t> </a:t>
            </a:r>
            <a:r>
              <a:rPr lang="de-DE" sz="6000" b="1" dirty="0" err="1">
                <a:solidFill>
                  <a:schemeClr val="bg1"/>
                </a:solidFill>
              </a:rPr>
              <a:t>you</a:t>
            </a:r>
            <a:endParaRPr lang="de-DE" sz="6000" b="1" dirty="0">
              <a:solidFill>
                <a:schemeClr val="bg1"/>
              </a:solidFill>
            </a:endParaRPr>
          </a:p>
          <a:p>
            <a:endParaRPr lang="de-DE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1611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DocSecurity>0</DocSecurity>
  <PresentationFormat>Widescreen</PresentationFormat>
  <Paragraphs>132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Grillo, Martin</cp:lastModifiedBy>
  <cp:revision>10</cp:revision>
  <dcterms:created xsi:type="dcterms:W3CDTF">2026-06-18T15:27:23Z</dcterms:created>
  <dcterms:modified xsi:type="dcterms:W3CDTF">2026-06-19T07:50:25Z</dcterms:modified>
</cp:coreProperties>
</file>