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q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u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v</a:t>
            </a: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o</a:t>
            </a: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Clique para editar o formato </a:t>
            </a:r>
            <a:r>
              <a:rPr b="0" lang="pt-PT" sz="2000" spc="-1" strike="noStrike">
                <a:solidFill>
                  <a:srgbClr val="000000"/>
                </a:solidFill>
                <a:latin typeface="Arial"/>
              </a:rPr>
              <a:t>das notas</a:t>
            </a:r>
            <a:endParaRPr b="0" lang="pt-P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P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341403C-2301-4ACA-B668-FF896BAA22B6}" type="slidenum">
              <a:rPr b="0" lang="pt-PT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P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AE7E3A-443D-4E6B-8F3E-BD6EF8604F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9B234D-BD6C-4378-929F-88FBB2BAA9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C6973E-5E1F-4281-97A7-7EA09D6891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3DA5F7-5CF0-4CC0-8B30-45A1A915C3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5A95AC-6F24-4D03-AA9D-3B3586FA93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B3D661-014F-4198-806D-EBB76811B8D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33724E-961B-47F7-AFC3-19654552432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AAD8B9-F5D5-4B95-AD54-7273D5BB82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0C2C04-01E6-4AD5-A182-E0783C3422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B5266D-1F74-43D9-8636-276FEB6E62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28565F-BEF9-403F-AEED-9BD3DBF749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F7564A-EC34-45F9-8652-C4C238F26F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P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E46E5E-E9B6-4F37-A189-7C577953EE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P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PT" sz="1800" spc="-1" strike="noStrike">
                <a:solidFill>
                  <a:schemeClr val="dk1"/>
                </a:solidFill>
                <a:latin typeface="Calibri"/>
              </a:rPr>
              <a:t>Clique para editar o formato do título</a:t>
            </a:r>
            <a:endParaRPr b="0" lang="pt-PT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3200" spc="-1" strike="noStrike">
                <a:solidFill>
                  <a:schemeClr val="dk1"/>
                </a:solidFill>
                <a:latin typeface="Calibri"/>
              </a:rPr>
              <a:t>Clique para editar o formato de texto dos </a:t>
            </a:r>
            <a:r>
              <a:rPr b="0" lang="pt-PT" sz="3200" spc="-1" strike="noStrike">
                <a:solidFill>
                  <a:schemeClr val="dk1"/>
                </a:solidFill>
                <a:latin typeface="Calibri"/>
              </a:rPr>
              <a:t>tópicos</a:t>
            </a:r>
            <a:endParaRPr b="0" lang="pt-PT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400" spc="-1" strike="noStrike">
                <a:solidFill>
                  <a:schemeClr val="dk1"/>
                </a:solidFill>
                <a:latin typeface="Calibri"/>
              </a:rPr>
              <a:t>Segundo nível de tópicos</a:t>
            </a:r>
            <a:endParaRPr b="0" lang="pt-PT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Terceiro nível de tópicos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Quarto nível de tópicos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Quinto nível de tópicos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Sexto nível de tópicos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PT" sz="2000" spc="-1" strike="noStrike">
                <a:solidFill>
                  <a:schemeClr val="dk1"/>
                </a:solidFill>
                <a:latin typeface="Calibri"/>
              </a:rPr>
              <a:t>Sétimo nível de tópicos</a:t>
            </a:r>
            <a:endParaRPr b="0" lang="pt-PT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2017440" y="1461240"/>
            <a:ext cx="5108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5400"/>
              </a:lnSpc>
              <a:tabLst>
                <a:tab algn="l" pos="0"/>
              </a:tabLst>
            </a:pPr>
            <a:r>
              <a:rPr b="1" lang="en-US" sz="4500" spc="-1" strike="noStrike">
                <a:solidFill>
                  <a:srgbClr val="38bdf8"/>
                </a:solidFill>
                <a:latin typeface="Arial"/>
                <a:ea typeface="Arial"/>
              </a:rPr>
              <a:t>Vikings vs Saxons</a:t>
            </a:r>
            <a:endParaRPr b="0" lang="pt-PT" sz="4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3178440" y="2299320"/>
            <a:ext cx="2786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52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bd5e1"/>
                </a:solidFill>
                <a:latin typeface="Arial"/>
                <a:ea typeface="Arial"/>
              </a:rPr>
              <a:t>Battle Simulation in Python</a:t>
            </a:r>
            <a:endParaRPr b="0" lang="pt-PT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420000" y="2700000"/>
            <a:ext cx="2340000" cy="14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Arial"/>
                <a:ea typeface="Arial"/>
              </a:rPr>
              <a:t>Object-Oriented Programming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Arial"/>
                <a:ea typeface="Arial"/>
              </a:rPr>
              <a:t>Made by:</a:t>
            </a:r>
            <a:br>
              <a:rPr sz="1350"/>
            </a:br>
            <a:r>
              <a:rPr b="0" lang="en-US" sz="1350" spc="-1" strike="noStrike">
                <a:solidFill>
                  <a:srgbClr val="94a3b8"/>
                </a:solidFill>
                <a:latin typeface="Arial"/>
                <a:ea typeface="Arial"/>
              </a:rPr>
              <a:t>Sheetansh Kaushik</a:t>
            </a:r>
            <a:br>
              <a:rPr sz="1350"/>
            </a:br>
            <a:r>
              <a:rPr b="0" lang="en-US" sz="1350" spc="-1" strike="noStrike">
                <a:solidFill>
                  <a:srgbClr val="94a3b8"/>
                </a:solidFill>
                <a:latin typeface="Arial"/>
                <a:ea typeface="Arial"/>
              </a:rPr>
              <a:t>Alexandre Andrade 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Arial"/>
                <a:ea typeface="Arial"/>
              </a:rPr>
              <a:t>Ironhack DSML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600000" y="4287240"/>
            <a:ext cx="195552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Arial"/>
                <a:ea typeface="Arial"/>
              </a:rPr>
              <a:t>Presentation • January 2026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Table of Contents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914400" y="1325880"/>
            <a:ext cx="7619760" cy="242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OOP Concepts Overview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Project Objectives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Class Architecture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Pseudocode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Execution Flow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Conclusions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OOP Concept 1: Classes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09480" y="124956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A Class is a blueprint or template. Here we are using the following features of a Class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914400" y="1641960"/>
            <a:ext cx="7619760" cy="11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Defines attributes (properties)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Defines methods (behaviors/functions)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Example: Boat belongs from a class of ships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OOP Concept 2: Objects/Instances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609480" y="120060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An object is a specific thing created from a class, with real values in its attributes</a:t>
            </a:r>
            <a:br>
              <a:rPr sz="1350"/>
            </a:b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An instance refers to the specific realization of a class 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840240" y="198000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Multiple instances from one class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Each instance has its own attributes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Example: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ts val="2429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Class = Mold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914400">
              <a:lnSpc>
                <a:spcPts val="2429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Instance = Object created from mold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OOP Concept 3: Methods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609480" y="124956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Methods are functions defined within a class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914400" y="1641960"/>
            <a:ext cx="7619760" cy="11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Define behaviors of objects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Can modify or access attributes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Example:   str is the class and .upper() is the method inside the class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OOP Concept 4: Inheritance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609480" y="124956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One class inherits from another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914400" y="16419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Parent Class (Superclass):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Base class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Child Class (Subclass):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Inherits from parent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Promotes code reuse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Example:  Animal is the superclass and Dog is the subclass that inherits from Animal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7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Vikings Mini-Project Code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3288960" y="1718280"/>
            <a:ext cx="2619000" cy="174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Project Objectives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Implement inheritance in object-oriented programming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Simulate battle between two armies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Manage state of multiple warriors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ts val="2429"/>
              </a:lnSpc>
              <a:buClr>
                <a:srgbClr val="cbd5e1"/>
              </a:buClr>
              <a:buFont typeface="Symbol" charset="2"/>
              <a:buChar char=""/>
            </a:pP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Demonstrate polymorphism and method overriding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Class Hierarchy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384000" y="2247840"/>
            <a:ext cx="2375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38bdf8"/>
                </a:solidFill>
                <a:latin typeface="Arial"/>
                <a:ea typeface="Arial"/>
              </a:rPr>
              <a:t>Soldier (Parent/Superclass)</a:t>
            </a:r>
            <a:endParaRPr b="0" lang="pt-P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4533120" y="2743200"/>
            <a:ext cx="7740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681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bd5e1"/>
                </a:solidFill>
                <a:latin typeface="Arial"/>
                <a:ea typeface="Arial"/>
              </a:rPr>
              <a:t>↓</a:t>
            </a:r>
            <a:endParaRPr b="0" lang="pt-PT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3073680" y="3108960"/>
            <a:ext cx="13474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Viking (Subclass)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3073680" y="3348720"/>
            <a:ext cx="13474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7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Name, Battle Cry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699800" y="3108960"/>
            <a:ext cx="137016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8bdf8"/>
                </a:solidFill>
                <a:latin typeface="Arial"/>
                <a:ea typeface="Arial"/>
              </a:rPr>
              <a:t>Saxon (Subclass)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699800" y="3348720"/>
            <a:ext cx="13701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471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Arial"/>
                <a:ea typeface="Arial"/>
              </a:rPr>
              <a:t>Anonymous</a:t>
            </a:r>
            <a:endParaRPr b="0" lang="pt-PT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609480" y="19836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Class Soldier and Subclasses Viking and Saxon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56920" y="66060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1. Class: Soldier (The Parent)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Initialization: Set health and strength.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Action (Attack): Return the soldier's strength.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Reaction (Receive Damage): Decrease health by the amount of damage received.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2. Class: Viking (Inherits from Soldier)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Initialization: Inherit health and strength from Soldier; add a name.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Reaction (Receive Damage – Overridden): Decrease health by damage.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If alive: Return a personalized message with the Viking's name.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Else: Return that the Viking has died in combat.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Special Ability: Return the "Odin" battle cry string. (New method to class viking)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3. Class: Saxon (Inherits from Soldier)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Initialization: Inherit health and strength from Soldier.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Reaction (Receive Damage – Overridden): Decrease health by damage.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If alive: Return a generic message for a Saxon.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Else: Return that a Saxon has died in combat.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8"/>
          <p:cNvSpPr/>
          <p:nvPr/>
        </p:nvSpPr>
        <p:spPr>
          <a:xfrm>
            <a:off x="624240" y="1288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Class 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624240" y="540000"/>
            <a:ext cx="808308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4. Class: War (The Controller)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Initialization: Create two empty lists: vikingArmy and saxonArmy.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Methods (Add Units): Functions to push Viking or Saxon objects into their respective lists.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Action: Viking Attack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Check if both armies have soldiers.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Pick a random Viking and a random Saxon.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The Saxon receives damage equal to the Viking's strength (Polymorphism in action).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If the Saxon's health is 0 or less, remove them from the army.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Return the result of the damage received.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Action: Saxon Attack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Check if both armies have soldiers.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Pick a random Saxon and a random Viking.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The Viking receives damage equal to the Saxon's strength.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If the Viking's health is 0 or less, remove them from the army.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Return the result of the damage received.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 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Status Check: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If Saxon army is empty: Vikings win.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Else If Viking army is empty: Saxons survive.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  <a:p>
            <a:pPr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	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•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Else: The war continues.</a:t>
            </a:r>
            <a:endParaRPr b="0" lang="pt-PT" sz="1000" spc="-1" strike="noStrike">
              <a:solidFill>
                <a:srgbClr val="ffffff"/>
              </a:solidFill>
              <a:latin typeface="Arial"/>
              <a:ea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609480" y="609480"/>
            <a:ext cx="808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OOP Concepts Applied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914400" y="1249560"/>
            <a:ext cx="7619760" cy="157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Inheritance: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Viking and Saxon inherit from Soldier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Polymorphism: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receiveDamage() method overridden differently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Encapsulation: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Class attributes and methods bundled together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ts val="2429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Superclass:</a:t>
            </a:r>
            <a:r>
              <a:rPr b="0" lang="en-US" sz="1350" spc="-1" strike="noStrike">
                <a:solidFill>
                  <a:srgbClr val="cbd5e1"/>
                </a:solidFill>
                <a:latin typeface="Arial"/>
                <a:ea typeface="Arial"/>
              </a:rPr>
              <a:t> Access to parent class methods via super()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3619800" y="1846080"/>
            <a:ext cx="1904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324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38bdf8"/>
                </a:solidFill>
                <a:latin typeface="Arial"/>
                <a:ea typeface="Arial"/>
              </a:rPr>
              <a:t>Conclusion</a:t>
            </a:r>
            <a:endParaRPr b="0" lang="pt-PT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995400" y="2486160"/>
            <a:ext cx="71528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1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cbd5e1"/>
                </a:solidFill>
                <a:latin typeface="Arial"/>
                <a:ea typeface="Arial"/>
              </a:rPr>
              <a:t>Well-structured battle simulation system demonstrating fundamental OOP concepts</a:t>
            </a:r>
            <a:endParaRPr b="0" lang="pt-PT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804400" y="3057480"/>
            <a:ext cx="3535200" cy="2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1891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Arial"/>
                <a:ea typeface="Arial"/>
              </a:rPr>
              <a:t>Efficient, reusable, and easily extensible code</a:t>
            </a:r>
            <a:endParaRPr b="0" lang="pt-PT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  <Company>Perplexity 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2026-01-16T10:12:46Z</dcterms:created>
  <dc:creator>Perplexity</dc:creator>
  <dc:description/>
  <dc:language>pt-PT</dc:language>
  <cp:lastModifiedBy/>
  <dcterms:modified xsi:type="dcterms:W3CDTF">2026-01-16T12:08:33Z</dcterms:modified>
  <cp:revision>2</cp:revision>
  <dc:subject>PptxGenJS Presentation</dc:subject>
  <dc:title>Converted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