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52E62D-7947-41ED-964C-8F04666A0833}">
  <a:tblStyle styleId="{0852E62D-7947-41ED-964C-8F04666A08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5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46b52a54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46b52a54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46b52a54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46b52a54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46b52a54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46b52a54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46b52a54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46b52a54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46b52a54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46b52a54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46b52a54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46b52a54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46b52a54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46b52a54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6b52a54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6b52a54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46b52a54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46b52a54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46b52a54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46b52a54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46b52a54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46b52a54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4825" y="3508259"/>
            <a:ext cx="8520600" cy="9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de" sz="3952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The Great Python Battle Begins!</a:t>
            </a:r>
            <a:endParaRPr b="1" sz="3952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4825" y="4579825"/>
            <a:ext cx="8520600" cy="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9CDCFE"/>
                </a:solidFill>
                <a:latin typeface="Montserrat"/>
                <a:ea typeface="Montserrat"/>
                <a:cs typeface="Montserrat"/>
                <a:sym typeface="Montserrat"/>
              </a:rPr>
              <a:t>Diogo, Lokesh, Mara, Shyam</a:t>
            </a:r>
            <a:endParaRPr>
              <a:solidFill>
                <a:srgbClr val="9CDCF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72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latin typeface="Georgia"/>
                <a:ea typeface="Georgia"/>
                <a:cs typeface="Georgia"/>
                <a:sym typeface="Georgia"/>
              </a:rPr>
              <a:t>Welcome to the Kingdom&amp;Queendom of Pythonia! 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442100" y="2770000"/>
            <a:ext cx="6291900" cy="19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100">
                <a:solidFill>
                  <a:schemeClr val="dk1"/>
                </a:solidFill>
              </a:rPr>
              <a:t>OOP: turning chaos into reusable glory since the dawn of classes.</a:t>
            </a:r>
            <a:endParaRPr b="1" sz="11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1" lang="de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Classes</a:t>
            </a:r>
            <a:r>
              <a:rPr lang="de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- like blueprints – define what kind of warriors we can create</a:t>
            </a:r>
            <a:endParaRPr b="1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1" lang="de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Objects</a:t>
            </a:r>
            <a:r>
              <a:rPr lang="de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- actual soldiers – the living, breathing instances born from blueprint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1" lang="de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Properties</a:t>
            </a:r>
            <a:r>
              <a:rPr lang="de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- their traits – like health, strength, or name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b="1" lang="de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Methods</a:t>
            </a:r>
            <a:r>
              <a:rPr lang="de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- their actions – what they can do, like attack or receive damage</a:t>
            </a:r>
            <a:endParaRPr sz="1100"/>
          </a:p>
        </p:txBody>
      </p:sp>
      <p:sp>
        <p:nvSpPr>
          <p:cNvPr id="62" name="Google Shape;62;p14"/>
          <p:cNvSpPr/>
          <p:nvPr/>
        </p:nvSpPr>
        <p:spPr>
          <a:xfrm>
            <a:off x="1567650" y="1632300"/>
            <a:ext cx="6008700" cy="83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Today’s War: VIKINGS vs SAXONS </a:t>
            </a:r>
            <a:endParaRPr b="1" sz="2100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72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Creating the Parent Class – SOLDIER</a:t>
            </a:r>
            <a:endParaRPr b="1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05900" y="1403250"/>
            <a:ext cx="3544800" cy="29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Every warrior starts as a Soldier!</a:t>
            </a:r>
            <a:endParaRPr i="1"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carries health &amp; strength as attributes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knows how to hit, knows how to get hurt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Methods: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attack(): returns strength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receiveDamage(damage): subtracts health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i="1" lang="de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This is the backbone of our army!</a:t>
            </a:r>
            <a:endParaRPr i="1"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240375" y="1252650"/>
            <a:ext cx="4279200" cy="329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Soldier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strength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strength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strength</a:t>
            </a:r>
            <a:endParaRPr sz="1050">
              <a:solidFill>
                <a:srgbClr val="9CDCF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attack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strength</a:t>
            </a:r>
            <a:endParaRPr sz="1050">
              <a:solidFill>
                <a:srgbClr val="9CDCF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receiveDamage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damage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-=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damage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72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Inheritance – one playbook, many players </a:t>
            </a:r>
            <a:endParaRPr b="1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503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28600" lvl="0" marL="45720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de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Definition:</a:t>
            </a:r>
            <a:r>
              <a:rPr lang="de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 child class gets all properties and methods from the parent class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de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Benefit:</a:t>
            </a:r>
            <a:r>
              <a:rPr lang="de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No need to rewrite the same code!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de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inherit attributes (health &amp; strength) and attack() from Soldier, but reimplement receiveDamage() differently.</a:t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de" sz="115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That’s inheritance, Python-style!</a:t>
            </a:r>
            <a:endParaRPr sz="115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3225" y="2481850"/>
            <a:ext cx="1352397" cy="2087025"/>
          </a:xfrm>
          <a:prstGeom prst="rect">
            <a:avLst/>
          </a:prstGeom>
          <a:noFill/>
          <a:ln cap="flat" cmpd="sng" w="2857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8451" y="2481850"/>
            <a:ext cx="1517850" cy="2087025"/>
          </a:xfrm>
          <a:prstGeom prst="rect">
            <a:avLst/>
          </a:prstGeom>
          <a:noFill/>
          <a:ln cap="flat" cmpd="sng" w="2857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" name="Google Shape;78;p16"/>
          <p:cNvSpPr/>
          <p:nvPr/>
        </p:nvSpPr>
        <p:spPr>
          <a:xfrm>
            <a:off x="6539350" y="1284850"/>
            <a:ext cx="1587300" cy="442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SOLDIER</a:t>
            </a:r>
            <a:endParaRPr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79" name="Google Shape;79;p16"/>
          <p:cNvCxnSpPr>
            <a:stCxn id="78" idx="2"/>
            <a:endCxn id="77" idx="0"/>
          </p:cNvCxnSpPr>
          <p:nvPr/>
        </p:nvCxnSpPr>
        <p:spPr>
          <a:xfrm flipH="1" rot="-5400000">
            <a:off x="7378150" y="1682500"/>
            <a:ext cx="754200" cy="844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9CDC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6"/>
          <p:cNvCxnSpPr>
            <a:stCxn id="78" idx="2"/>
            <a:endCxn id="76" idx="0"/>
          </p:cNvCxnSpPr>
          <p:nvPr/>
        </p:nvCxnSpPr>
        <p:spPr>
          <a:xfrm rot="5400000">
            <a:off x="6444100" y="1592950"/>
            <a:ext cx="754200" cy="1023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9CDCF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72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Creating the first Child Class – VIKINGS</a:t>
            </a:r>
            <a:endParaRPr b="1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391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114300" lvl="0" marL="8001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Meet the mighty Viking!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11430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 inherits from Soldier but adds: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name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mighty cry: '</a:t>
            </a:r>
            <a:r>
              <a:rPr i="1"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Odin Owns You All!</a:t>
            </a: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'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Reports damage with drama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 calls his father (Soldier) to handle damage using super().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326250" y="1112625"/>
            <a:ext cx="4589400" cy="3713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Viking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9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Soldier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strength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9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de" sz="9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strength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sz="950">
              <a:solidFill>
                <a:srgbClr val="9CDCF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battleCry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9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"Odin Owns You All!"</a:t>
            </a:r>
            <a:endParaRPr sz="95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receiveDamage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damage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9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-=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damage</a:t>
            </a:r>
            <a:endParaRPr sz="950">
              <a:solidFill>
                <a:srgbClr val="9CDCF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9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9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de" sz="9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de" sz="9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has received 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damage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de" sz="9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points of damage"</a:t>
            </a:r>
            <a:endParaRPr sz="95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9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9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de" sz="9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9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de" sz="9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de" sz="9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has died in act of combat"</a:t>
            </a:r>
            <a:r>
              <a:rPr lang="de" sz="9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sz="9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12800" l="0" r="0" t="0"/>
          <a:stretch/>
        </p:blipFill>
        <p:spPr>
          <a:xfrm>
            <a:off x="0" y="3344150"/>
            <a:ext cx="3668549" cy="179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 flipH="1">
            <a:off x="1973325" y="3292200"/>
            <a:ext cx="1460400" cy="498900"/>
          </a:xfrm>
          <a:prstGeom prst="flowChartMagneticTap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000">
                <a:latin typeface="Georgia"/>
                <a:ea typeface="Georgia"/>
                <a:cs typeface="Georgia"/>
                <a:sym typeface="Georgia"/>
              </a:rPr>
              <a:t>“ODIN OWNS YOU ALL!”</a:t>
            </a:r>
            <a:endParaRPr i="1" sz="10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72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Creating second Child Class – SAXON</a:t>
            </a:r>
            <a:endParaRPr b="1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402000"/>
            <a:ext cx="4032000" cy="14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Meet The Stoic Fighter</a:t>
            </a:r>
            <a:endParaRPr sz="1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Saxons are like Soldiers, but a</a:t>
            </a: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nonymous but resilient</a:t>
            </a: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They fight bravely but fall easily</a:t>
            </a: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...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inheritance (health, strength, attack)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Their message: 'A Saxon has died in combat.'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4440425" y="1460025"/>
            <a:ext cx="4167000" cy="307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Saxon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Soldier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strength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strength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receiveDamage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damage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-=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damage</a:t>
            </a:r>
            <a:endParaRPr sz="1050">
              <a:solidFill>
                <a:srgbClr val="9CDCF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health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de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 Saxon has received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damage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de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 points of damage"</a:t>
            </a:r>
            <a:endParaRPr sz="105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de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 Saxon has died in combat"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950" y="2925900"/>
            <a:ext cx="1613250" cy="204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72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lang="de" sz="2500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The War Class Rises</a:t>
            </a:r>
            <a:endParaRPr b="1" sz="2500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2118025"/>
            <a:ext cx="3826500" cy="11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the ashes of the battlefield, Pythonia </a:t>
            </a: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united</a:t>
            </a: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under one structure — the War class!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de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gathers both Viking and Saxon armies, preparing them for battle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4505175" y="1269025"/>
            <a:ext cx="4137300" cy="3183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War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[]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[]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addViking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viking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viking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addSaxon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saxon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saxon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72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The Battle Unfolds </a:t>
            </a:r>
            <a:endParaRPr b="1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4722125" y="1214875"/>
            <a:ext cx="3891900" cy="3523500"/>
          </a:xfrm>
          <a:prstGeom prst="roundRect">
            <a:avLst>
              <a:gd fmla="val 16667" name="adj"/>
            </a:avLst>
          </a:prstGeom>
          <a:solidFill>
            <a:srgbClr val="0C1720"/>
          </a:solidFill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saxonAttack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05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attacking_saxon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choice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attacked_viking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choice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attacked_viking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.receiveDamage(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attacking_saxon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.attack())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attacked_viking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.health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remove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attacked_viking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endParaRPr sz="1050">
              <a:solidFill>
                <a:srgbClr val="9CDCF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424075" y="1523300"/>
            <a:ext cx="35895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Now the real war begins!</a:t>
            </a:r>
            <a:br>
              <a:rPr lang="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de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Viking and a Saxon are chosen at random to face each other in combat</a:t>
            </a:r>
            <a:br>
              <a:rPr lang="de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de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Vikings strike first and Saxon receive damage equal to Viking strength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de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Saxon is at loss of health, they are removed from the battlefield!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lang="de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1" lang="de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…and now… the Saxons are in attack!</a:t>
            </a:r>
            <a:endParaRPr i="1"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4722125" y="1214875"/>
            <a:ext cx="3891900" cy="3523500"/>
          </a:xfrm>
          <a:prstGeom prst="roundRect">
            <a:avLst>
              <a:gd fmla="val 16667" name="adj"/>
            </a:avLst>
          </a:prstGeom>
          <a:solidFill>
            <a:srgbClr val="0C1720"/>
          </a:solidFill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	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vikingAttack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sz="105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attacking_viking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choice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attacked_saxon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choice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attacked_saxon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.receiveDamage(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attacking_viking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.attack())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attacked_saxon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.health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remove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attacked_saxon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72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The Fate of Pythonia</a:t>
            </a:r>
            <a:endParaRPr b="1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261000"/>
            <a:ext cx="360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 last, the War class decides who remains standing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After countless loops, the screen flashes:</a:t>
            </a:r>
            <a:br>
              <a:rPr lang="de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Saxons left → Vikings Win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endParaRPr i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Vikings left → Saxons Win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endParaRPr i="1"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Both armies alive → Battle Continues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4206750" y="1506250"/>
            <a:ext cx="4439700" cy="292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showStatus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"Vikings have won the war of the century!"</a:t>
            </a:r>
            <a:endParaRPr sz="105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de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de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"Saxons have fought for their lives and survive another day..."</a:t>
            </a:r>
            <a:endParaRPr sz="105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"Vikings and Saxons are still in the thick of battle."</a:t>
            </a:r>
            <a:endParaRPr sz="105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e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72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4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de" sz="2000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… </a:t>
            </a:r>
            <a:r>
              <a:rPr b="1" lang="de" sz="2000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may our next battle raise no errors!</a:t>
            </a:r>
            <a:endParaRPr b="1" sz="2000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700" y="1791375"/>
            <a:ext cx="5721447" cy="3206525"/>
          </a:xfrm>
          <a:prstGeom prst="rect">
            <a:avLst/>
          </a:prstGeom>
          <a:noFill/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72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9CDCFE"/>
                </a:solidFill>
                <a:latin typeface="Georgia"/>
                <a:ea typeface="Georgia"/>
                <a:cs typeface="Georgia"/>
                <a:sym typeface="Georgia"/>
              </a:rPr>
              <a:t>Summary</a:t>
            </a:r>
            <a:endParaRPr b="1">
              <a:solidFill>
                <a:srgbClr val="9CDCF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31" name="Google Shape;131;p23"/>
          <p:cNvGraphicFramePr/>
          <p:nvPr/>
        </p:nvGraphicFramePr>
        <p:xfrm>
          <a:off x="621425" y="113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{0852E62D-7947-41ED-964C-8F04666A0833}</a:tableStyleId>
              </a:tblPr>
              <a:tblGrid>
                <a:gridCol w="1833650"/>
                <a:gridCol w="2550225"/>
                <a:gridCol w="3667525"/>
              </a:tblGrid>
              <a:tr h="48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>
                          <a:solidFill>
                            <a:srgbClr val="9CDCF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Concept</a:t>
                      </a:r>
                      <a:endParaRPr b="1" sz="1200">
                        <a:solidFill>
                          <a:srgbClr val="9CDCF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>
                          <a:solidFill>
                            <a:srgbClr val="9CDCF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Explanation</a:t>
                      </a:r>
                      <a:endParaRPr b="1" sz="1200">
                        <a:solidFill>
                          <a:srgbClr val="9CDCF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>
                          <a:solidFill>
                            <a:srgbClr val="9CDCF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Example</a:t>
                      </a:r>
                      <a:endParaRPr b="1" sz="1200">
                        <a:solidFill>
                          <a:srgbClr val="9CDCF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48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>
                          <a:solidFill>
                            <a:srgbClr val="9CDCF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Class</a:t>
                      </a:r>
                      <a:endParaRPr b="1" sz="1200">
                        <a:solidFill>
                          <a:srgbClr val="9CDCF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Blueprint for objects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5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de" sz="105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Soldier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</a:t>
                      </a:r>
                      <a:endParaRPr sz="1050">
                        <a:solidFill>
                          <a:srgbClr val="569CD6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45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>
                          <a:solidFill>
                            <a:srgbClr val="9CDCF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Object</a:t>
                      </a:r>
                      <a:endParaRPr b="1" sz="1200">
                        <a:solidFill>
                          <a:srgbClr val="9CDCF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instance of a class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5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de" sz="105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de" sz="105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de" sz="105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health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de" sz="105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strength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rgbClr val="CCCCC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48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>
                          <a:solidFill>
                            <a:srgbClr val="9CDCF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Inheritance</a:t>
                      </a:r>
                      <a:endParaRPr b="1" sz="1200">
                        <a:solidFill>
                          <a:srgbClr val="9CDCF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child gets parent’s features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5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super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().</a:t>
                      </a:r>
                      <a:r>
                        <a:rPr lang="de" sz="105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de" sz="105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health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de" sz="105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strength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3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>
                          <a:solidFill>
                            <a:srgbClr val="9CDCF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super()</a:t>
                      </a:r>
                      <a:endParaRPr b="1" sz="1200">
                        <a:solidFill>
                          <a:srgbClr val="9CDCF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call parent’s methods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50">
                          <a:solidFill>
                            <a:srgbClr val="4EC9B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super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().</a:t>
                      </a:r>
                      <a:r>
                        <a:rPr lang="de" sz="105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de" sz="105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health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de" sz="105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strength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75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de" sz="1200">
                          <a:solidFill>
                            <a:srgbClr val="9CDCF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method override</a:t>
                      </a:r>
                      <a:endParaRPr b="1" sz="1200">
                        <a:solidFill>
                          <a:srgbClr val="9CDCF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child challenges parent’s method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050">
                          <a:solidFill>
                            <a:srgbClr val="569CD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de" sz="1050">
                          <a:solidFill>
                            <a:srgbClr val="DCDCA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receiveDamage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de" sz="105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de" sz="1050">
                          <a:solidFill>
                            <a:srgbClr val="9CDCF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damage</a:t>
                      </a:r>
                      <a:r>
                        <a:rPr lang="de" sz="1050">
                          <a:solidFill>
                            <a:srgbClr val="CCCCC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sz="1050">
                        <a:solidFill>
                          <a:srgbClr val="CCCCCC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1899000" y="1805825"/>
            <a:ext cx="5154300" cy="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de" sz="2500">
                <a:solidFill>
                  <a:srgbClr val="0C1720"/>
                </a:solidFill>
                <a:latin typeface="Georgia"/>
                <a:ea typeface="Georgia"/>
                <a:cs typeface="Georgia"/>
                <a:sym typeface="Georgia"/>
              </a:rPr>
              <a:t>I’LL SEE YOU IN VALHALLA</a:t>
            </a:r>
            <a:r>
              <a:rPr i="1" lang="de" sz="2500">
                <a:solidFill>
                  <a:srgbClr val="0C1720"/>
                </a:solidFill>
              </a:rPr>
              <a:t>!</a:t>
            </a:r>
            <a:endParaRPr i="1" sz="2500">
              <a:solidFill>
                <a:srgbClr val="0C172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